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I'm presenting vvEntra — an institutional marketplace and transaction engine designed specifically for buying and selling software businesses and digital IP safely. I rebuilt this platform completely from scratch using zero external dependencies, introduced an institutional design system, and developed a proprietary 4-step Atomic Handover Protocol to eliminate fraud.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vvEntra, think of it like an institutional real estate escrow service, but for software companies. Right now, selling an app or SaaS business is dangerous. Traditional brokers take 15% and take months, while listing sites are full of scams. vvEntra solves this by verifying financial numbers directly with Stripe, auditing source code, and holding both money and code in escrow until both parties are 100% satisfied.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core market intelligence tools. First, our 2x2 Strategic Positioning Matrix maps companies by technical moat versus valuation multiple—users can click any quadrant to filter assets. Second, our native SVG Demand vs Supply curves show where buyer liquidity is concentrated. And third, our 'What Should You List?' recommendation engine lets founders calculate their expected multiple in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at the discovery side: Our marketplace indexes audited dossiers with verified financial figures. When an institutional buyer wants to inspect deeper, they enter the Virtual Data Room by signing a digital NDA. They also have access to an embedded WebRTC-style video terminal where founders demonstrate their codebase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single biggest innovation: The Atomic Handover Protocol. In software M&amp;A, the biggest risk is the handover. What if the buyer doesn't pay? What if the seller steals back the domain? We designed a 4-phase sequential custody transfer: First, funds are locked in escrow. Second, code and cloud root access are secured. Third, DNS is migrated. And fourth, once the buyer tests and confirms, funds release automatically. Neither side can cheat.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our technology stack, I chose an intentional engineering approach: Zero Dependencies. Rather than relying on heavy React packages and build steps that slow down loading, we built everything in pure HTML5, CSS3 with BEM naming, and Vanilla JavaScript. All charts are rendered dynamically using native SVG math. The site loads in under 120 milliseconds worldwide and is hosted for free on GitHub Pages.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three innovative engineering approaches we took: First, our dual-perspective toggle flips the entire UI between buyer and seller using pure CSS variables. Second, we hand-crafted native SVG math for all three charts without pulling in heavy charting libraries, keeping the bundle under 200 KB. And third, our institutional design system replaces cartoonish crypto styling with serious Wall Street-grade typography.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an engineering and product standpoint, three key lessons stood out: First, building without frameworks proved how powerful modern vanilla JavaScript and CSS variables really are. Second, in FinTech and M&amp;A, trust is everything—clean data tables and typography build far more investor confidence than flashy animations. And third, solving the hardest problem—safe handover—creates the strongest competitive advantage.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vvEntra is complete, fully functional, and live right now at rohithagarwal.github.io/vventra. The code is version-controlled on GitHub and ready for future API integrations. Thank you, and I am now open to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645920"/>
            <a:ext cx="10728655" cy="3840480"/>
          </a:xfrm>
          <a:prstGeom prst="roundRect">
            <a:avLst/>
          </a:prstGeom>
          <a:solidFill>
            <a:srgbClr val="161E2E"/>
          </a:solidFill>
          <a:ln>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011680"/>
            <a:ext cx="10058400" cy="3108960"/>
          </a:xfrm>
          <a:prstGeom prst="rect">
            <a:avLst/>
          </a:prstGeom>
          <a:noFill/>
        </p:spPr>
        <p:txBody>
          <a:bodyPr wrap="square">
            <a:spAutoFit/>
          </a:bodyPr>
          <a:lstStyle/>
          <a:p>
            <a:pPr>
              <a:defRPr sz="4400" b="1">
                <a:solidFill>
                  <a:srgbClr val="F8FAFC"/>
                </a:solidFill>
              </a:defRPr>
            </a:pPr>
            <a:r>
              <a:t>vvEntra</a:t>
            </a:r>
          </a:p>
          <a:p>
            <a:pPr>
              <a:spcBef>
                <a:spcPts val="800"/>
              </a:spcBef>
              <a:defRPr sz="2000">
                <a:solidFill>
                  <a:srgbClr val="38BDF8"/>
                </a:solidFill>
              </a:defRPr>
            </a:pPr>
            <a:r>
              <a:t>Institutional Tech M&amp;A Marketplace &amp; Atomic Handover Protocol</a:t>
            </a:r>
          </a:p>
          <a:p>
            <a:pPr>
              <a:spcBef>
                <a:spcPts val="1400"/>
              </a:spcBef>
              <a:defRPr sz="1300">
                <a:solidFill>
                  <a:srgbClr val="94A3B8"/>
                </a:solidFill>
              </a:defRPr>
            </a:pPr>
            <a:r>
              <a:t>A zero-dependency, institutional platform engineered for safe, verified, and friction-free software company buyouts.</a:t>
            </a:r>
          </a:p>
          <a:p>
            <a:pPr>
              <a:spcBef>
                <a:spcPts val="2400"/>
              </a:spcBef>
              <a:defRPr sz="1100">
                <a:solidFill>
                  <a:srgbClr val="34D399"/>
                </a:solidFill>
              </a:defRPr>
            </a:pPr>
            <a:r>
              <a:t>Live Platform: https://rohithagarwal.github.io/vventra/  |  Repository: github.com/rohithagarwal/vventra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8BDF8"/>
                </a:solidFill>
              </a:defRPr>
            </a:pPr>
            <a:r>
              <a:t>EXECUTIVE OVERVIEW</a:t>
            </a:r>
          </a:p>
        </p:txBody>
      </p:sp>
      <p:sp>
        <p:nvSpPr>
          <p:cNvPr id="4" name="TextBox 3"/>
          <p:cNvSpPr txBox="1"/>
          <p:nvPr/>
        </p:nvSpPr>
        <p:spPr>
          <a:xfrm>
            <a:off x="731520" y="822960"/>
            <a:ext cx="10698480" cy="731520"/>
          </a:xfrm>
          <a:prstGeom prst="rect">
            <a:avLst/>
          </a:prstGeom>
          <a:noFill/>
        </p:spPr>
        <p:txBody>
          <a:bodyPr wrap="square">
            <a:spAutoFit/>
          </a:bodyPr>
          <a:lstStyle/>
          <a:p>
            <a:pPr>
              <a:defRPr sz="2400" b="1">
                <a:solidFill>
                  <a:srgbClr val="F8FAFC"/>
                </a:solidFill>
              </a:defRPr>
            </a:pPr>
            <a:r>
              <a:t>Overall Understanding of the Project</a:t>
            </a:r>
          </a:p>
          <a:p>
            <a:pPr>
              <a:defRPr sz="1200">
                <a:solidFill>
                  <a:srgbClr val="94A3B8"/>
                </a:solidFill>
              </a:defRPr>
            </a:pPr>
            <a:r>
              <a:t>The problem vvEntra solves and why it matters in software acquisitions.</a:t>
            </a:r>
          </a:p>
        </p:txBody>
      </p:sp>
      <p:sp>
        <p:nvSpPr>
          <p:cNvPr id="5" name="Rounded Rectangle 4"/>
          <p:cNvSpPr/>
          <p:nvPr/>
        </p:nvSpPr>
        <p:spPr>
          <a:xfrm>
            <a:off x="731520"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2834640" cy="4023359"/>
          </a:xfrm>
          <a:prstGeom prst="rect">
            <a:avLst/>
          </a:prstGeom>
          <a:noFill/>
        </p:spPr>
        <p:txBody>
          <a:bodyPr wrap="square">
            <a:spAutoFit/>
          </a:bodyPr>
          <a:lstStyle/>
          <a:p>
            <a:pPr>
              <a:defRPr sz="1500" b="1">
                <a:solidFill>
                  <a:srgbClr val="F59E0B"/>
                </a:solidFill>
              </a:defRPr>
            </a:pPr>
            <a:r>
              <a:t>[THE CHALLENGE]  The Problem in M&amp;A</a:t>
            </a:r>
          </a:p>
          <a:p>
            <a:pPr>
              <a:spcBef>
                <a:spcPts val="600"/>
              </a:spcBef>
              <a:defRPr sz="1100">
                <a:solidFill>
                  <a:srgbClr val="94A3B8"/>
                </a:solidFill>
              </a:defRPr>
            </a:pPr>
            <a:r>
              <a:t>• Traditional Brokers: Charge predatory 10%–15% fees and take 6 to 12 months to close.</a:t>
            </a:r>
          </a:p>
          <a:p>
            <a:pPr>
              <a:spcBef>
                <a:spcPts val="600"/>
              </a:spcBef>
              <a:defRPr sz="1100">
                <a:solidFill>
                  <a:srgbClr val="94A3B8"/>
                </a:solidFill>
              </a:defRPr>
            </a:pPr>
            <a:r>
              <a:t>• Unverified Marketplaces: Plagued with fake screenshot metrics, unvetted source code, and high dispute rates.</a:t>
            </a:r>
          </a:p>
          <a:p>
            <a:pPr>
              <a:spcBef>
                <a:spcPts val="600"/>
              </a:spcBef>
              <a:defRPr sz="1100">
                <a:solidFill>
                  <a:srgbClr val="94A3B8"/>
                </a:solidFill>
              </a:defRPr>
            </a:pPr>
            <a:r>
              <a:t>• Custody Anxiety: Buyers fear paying without receiving code; sellers fear handing over code and getting ghosted.</a:t>
            </a:r>
          </a:p>
        </p:txBody>
      </p:sp>
      <p:sp>
        <p:nvSpPr>
          <p:cNvPr id="7" name="Rounded Rectangle 6"/>
          <p:cNvSpPr/>
          <p:nvPr/>
        </p:nvSpPr>
        <p:spPr>
          <a:xfrm>
            <a:off x="4443984"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2584" y="2011680"/>
            <a:ext cx="2834640" cy="4023359"/>
          </a:xfrm>
          <a:prstGeom prst="rect">
            <a:avLst/>
          </a:prstGeom>
          <a:noFill/>
        </p:spPr>
        <p:txBody>
          <a:bodyPr wrap="square">
            <a:spAutoFit/>
          </a:bodyPr>
          <a:lstStyle/>
          <a:p>
            <a:pPr>
              <a:defRPr sz="1500" b="1">
                <a:solidFill>
                  <a:srgbClr val="34D399"/>
                </a:solidFill>
              </a:defRPr>
            </a:pPr>
            <a:r>
              <a:t>[THE SOLUTION]  The vvEntra Solution</a:t>
            </a:r>
          </a:p>
          <a:p>
            <a:pPr>
              <a:spcBef>
                <a:spcPts val="600"/>
              </a:spcBef>
              <a:defRPr sz="1100">
                <a:solidFill>
                  <a:srgbClr val="94A3B8"/>
                </a:solidFill>
              </a:defRPr>
            </a:pPr>
            <a:r>
              <a:t>• Verified Revenue: Direct Stripe and Paddle API sync to prove genuine ARR/EBITDA.</a:t>
            </a:r>
          </a:p>
          <a:p>
            <a:pPr>
              <a:spcBef>
                <a:spcPts val="600"/>
              </a:spcBef>
              <a:defRPr sz="1100">
                <a:solidFill>
                  <a:srgbClr val="94A3B8"/>
                </a:solidFill>
              </a:defRPr>
            </a:pPr>
            <a:r>
              <a:t>• Code Audits: Static vulnerability scanning and open-source license clearance.</a:t>
            </a:r>
          </a:p>
          <a:p>
            <a:pPr>
              <a:spcBef>
                <a:spcPts val="600"/>
              </a:spcBef>
              <a:defRPr sz="1100">
                <a:solidFill>
                  <a:srgbClr val="94A3B8"/>
                </a:solidFill>
              </a:defRPr>
            </a:pPr>
            <a:r>
              <a:t>• Safe Custody: An automated 4-step escrow pipeline that eliminates all transfer risk.</a:t>
            </a:r>
          </a:p>
          <a:p>
            <a:pPr>
              <a:spcBef>
                <a:spcPts val="600"/>
              </a:spcBef>
              <a:defRPr sz="1100">
                <a:solidFill>
                  <a:srgbClr val="94A3B8"/>
                </a:solidFill>
              </a:defRPr>
            </a:pPr>
            <a:r>
              <a:t>• Fair Economics: Sliding scale fees (3%–7%) saving sellers hundreds of thousands.</a:t>
            </a:r>
          </a:p>
        </p:txBody>
      </p:sp>
      <p:sp>
        <p:nvSpPr>
          <p:cNvPr id="9" name="Rounded Rectangle 8"/>
          <p:cNvSpPr/>
          <p:nvPr/>
        </p:nvSpPr>
        <p:spPr>
          <a:xfrm>
            <a:off x="8165592"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2011680"/>
            <a:ext cx="2834640" cy="4023359"/>
          </a:xfrm>
          <a:prstGeom prst="rect">
            <a:avLst/>
          </a:prstGeom>
          <a:noFill/>
        </p:spPr>
        <p:txBody>
          <a:bodyPr wrap="square">
            <a:spAutoFit/>
          </a:bodyPr>
          <a:lstStyle/>
          <a:p>
            <a:pPr>
              <a:defRPr sz="1500" b="1">
                <a:solidFill>
                  <a:srgbClr val="38BDF8"/>
                </a:solidFill>
              </a:defRPr>
            </a:pPr>
            <a:r>
              <a:t>[VALUE MOAT]  Core Value Proposition</a:t>
            </a:r>
          </a:p>
          <a:p>
            <a:pPr>
              <a:spcBef>
                <a:spcPts val="600"/>
              </a:spcBef>
              <a:defRPr sz="1100">
                <a:solidFill>
                  <a:srgbClr val="94A3B8"/>
                </a:solidFill>
              </a:defRPr>
            </a:pPr>
            <a:r>
              <a:t>• Institutional Credibility: Wall Street-grade financial terminal aesthetics replacing crypto neon.</a:t>
            </a:r>
          </a:p>
          <a:p>
            <a:pPr>
              <a:spcBef>
                <a:spcPts val="600"/>
              </a:spcBef>
              <a:defRPr sz="1100">
                <a:solidFill>
                  <a:srgbClr val="94A3B8"/>
                </a:solidFill>
              </a:defRPr>
            </a:pPr>
            <a:r>
              <a:t>• Dual Perspectives: Instant toggling between Buyer returns and Seller valuations.</a:t>
            </a:r>
          </a:p>
          <a:p>
            <a:pPr>
              <a:spcBef>
                <a:spcPts val="600"/>
              </a:spcBef>
              <a:defRPr sz="1100">
                <a:solidFill>
                  <a:srgbClr val="94A3B8"/>
                </a:solidFill>
              </a:defRPr>
            </a:pPr>
            <a:r>
              <a:t>• Instant Execution: Pure vanilla architecture loading in under 120ms with zero server lag.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8BDF8"/>
                </a:solidFill>
              </a:defRPr>
            </a:pPr>
            <a:r>
              <a:t>PLATFORM FUNCTIONALITY</a:t>
            </a:r>
          </a:p>
        </p:txBody>
      </p:sp>
      <p:sp>
        <p:nvSpPr>
          <p:cNvPr id="4" name="TextBox 3"/>
          <p:cNvSpPr txBox="1"/>
          <p:nvPr/>
        </p:nvSpPr>
        <p:spPr>
          <a:xfrm>
            <a:off x="731520" y="822960"/>
            <a:ext cx="10698480" cy="731520"/>
          </a:xfrm>
          <a:prstGeom prst="rect">
            <a:avLst/>
          </a:prstGeom>
          <a:noFill/>
        </p:spPr>
        <p:txBody>
          <a:bodyPr wrap="square">
            <a:spAutoFit/>
          </a:bodyPr>
          <a:lstStyle/>
          <a:p>
            <a:pPr>
              <a:defRPr sz="2400" b="1">
                <a:solidFill>
                  <a:srgbClr val="F8FAFC"/>
                </a:solidFill>
              </a:defRPr>
            </a:pPr>
            <a:r>
              <a:t>Major Capabilities: Market Intelligence &amp; Analytics</a:t>
            </a:r>
          </a:p>
          <a:p>
            <a:pPr>
              <a:defRPr sz="1200">
                <a:solidFill>
                  <a:srgbClr val="94A3B8"/>
                </a:solidFill>
              </a:defRPr>
            </a:pPr>
            <a:r>
              <a:t>Analytical tools giving institutional buyers and founders real-time deal data.</a:t>
            </a:r>
          </a:p>
        </p:txBody>
      </p:sp>
      <p:sp>
        <p:nvSpPr>
          <p:cNvPr id="5" name="Rounded Rectangle 4"/>
          <p:cNvSpPr/>
          <p:nvPr/>
        </p:nvSpPr>
        <p:spPr>
          <a:xfrm>
            <a:off x="731520"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2834640" cy="4023359"/>
          </a:xfrm>
          <a:prstGeom prst="rect">
            <a:avLst/>
          </a:prstGeom>
          <a:noFill/>
        </p:spPr>
        <p:txBody>
          <a:bodyPr wrap="square">
            <a:spAutoFit/>
          </a:bodyPr>
          <a:lstStyle/>
          <a:p>
            <a:pPr>
              <a:defRPr sz="1500" b="1">
                <a:solidFill>
                  <a:srgbClr val="38BDF8"/>
                </a:solidFill>
              </a:defRPr>
            </a:pPr>
            <a:r>
              <a:t>[STRATEGIC QUADRANT]  2×2 Strategic Matrix</a:t>
            </a:r>
          </a:p>
          <a:p>
            <a:pPr>
              <a:spcBef>
                <a:spcPts val="600"/>
              </a:spcBef>
              <a:defRPr sz="1100">
                <a:solidFill>
                  <a:srgbClr val="94A3B8"/>
                </a:solidFill>
              </a:defRPr>
            </a:pPr>
            <a:r>
              <a:t>• Visual 4-quadrant classification of software assets.</a:t>
            </a:r>
          </a:p>
          <a:p>
            <a:pPr>
              <a:spcBef>
                <a:spcPts val="600"/>
              </a:spcBef>
              <a:defRPr sz="1100">
                <a:solidFill>
                  <a:srgbClr val="94A3B8"/>
                </a:solidFill>
              </a:defRPr>
            </a:pPr>
            <a:r>
              <a:t>• Plots ARR Multiple against Technical Moat strength.</a:t>
            </a:r>
          </a:p>
          <a:p>
            <a:pPr>
              <a:spcBef>
                <a:spcPts val="600"/>
              </a:spcBef>
              <a:defRPr sz="1100">
                <a:solidFill>
                  <a:srgbClr val="94A3B8"/>
                </a:solidFill>
              </a:defRPr>
            </a:pPr>
            <a:r>
              <a:t>• Divides assets into: Scale Giants, Enterprise Niche, Emerging Alpha, &amp; Utilities.</a:t>
            </a:r>
          </a:p>
          <a:p>
            <a:pPr>
              <a:spcBef>
                <a:spcPts val="600"/>
              </a:spcBef>
              <a:defRPr sz="1100">
                <a:solidFill>
                  <a:srgbClr val="94A3B8"/>
                </a:solidFill>
              </a:defRPr>
            </a:pPr>
            <a:r>
              <a:t>• Fully Interactive: Clicking any quadrant filters marketplace listings dynamically.</a:t>
            </a:r>
          </a:p>
        </p:txBody>
      </p:sp>
      <p:sp>
        <p:nvSpPr>
          <p:cNvPr id="7" name="Rounded Rectangle 6"/>
          <p:cNvSpPr/>
          <p:nvPr/>
        </p:nvSpPr>
        <p:spPr>
          <a:xfrm>
            <a:off x="4443984"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2584" y="2011680"/>
            <a:ext cx="2834640" cy="4023359"/>
          </a:xfrm>
          <a:prstGeom prst="rect">
            <a:avLst/>
          </a:prstGeom>
          <a:noFill/>
        </p:spPr>
        <p:txBody>
          <a:bodyPr wrap="square">
            <a:spAutoFit/>
          </a:bodyPr>
          <a:lstStyle/>
          <a:p>
            <a:pPr>
              <a:defRPr sz="1500" b="1">
                <a:solidFill>
                  <a:srgbClr val="34D399"/>
                </a:solidFill>
              </a:defRPr>
            </a:pPr>
            <a:r>
              <a:t>[MARKET DEPTH]  Market Dynamics Charts</a:t>
            </a:r>
          </a:p>
          <a:p>
            <a:pPr>
              <a:spcBef>
                <a:spcPts val="600"/>
              </a:spcBef>
              <a:defRPr sz="1100">
                <a:solidFill>
                  <a:srgbClr val="94A3B8"/>
                </a:solidFill>
              </a:defRPr>
            </a:pPr>
            <a:r>
              <a:t>• Demand vs Supply Curves: Dual-vector SVG curves visualizing buyer liquidity spreads.</a:t>
            </a:r>
          </a:p>
          <a:p>
            <a:pPr>
              <a:spcBef>
                <a:spcPts val="600"/>
              </a:spcBef>
              <a:defRPr sz="1100">
                <a:solidFill>
                  <a:srgbClr val="94A3B8"/>
                </a:solidFill>
              </a:defRPr>
            </a:pPr>
            <a:r>
              <a:t>• Sector Toggles: Live curve shifts for AI Infrastructure, FinTech Core, &amp; HealthTech.</a:t>
            </a:r>
          </a:p>
          <a:p>
            <a:pPr>
              <a:spcBef>
                <a:spcPts val="600"/>
              </a:spcBef>
              <a:defRPr sz="1100">
                <a:solidFill>
                  <a:srgbClr val="94A3B8"/>
                </a:solidFill>
              </a:defRPr>
            </a:pPr>
            <a:r>
              <a:t>• 6-Axis Sector Radar: Spider chart measuring Growth, Margins, IP, Churn, Code, and Team.</a:t>
            </a:r>
          </a:p>
        </p:txBody>
      </p:sp>
      <p:sp>
        <p:nvSpPr>
          <p:cNvPr id="9" name="Rounded Rectangle 8"/>
          <p:cNvSpPr/>
          <p:nvPr/>
        </p:nvSpPr>
        <p:spPr>
          <a:xfrm>
            <a:off x="8165592"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2011680"/>
            <a:ext cx="2834640" cy="4023359"/>
          </a:xfrm>
          <a:prstGeom prst="rect">
            <a:avLst/>
          </a:prstGeom>
          <a:noFill/>
        </p:spPr>
        <p:txBody>
          <a:bodyPr wrap="square">
            <a:spAutoFit/>
          </a:bodyPr>
          <a:lstStyle/>
          <a:p>
            <a:pPr>
              <a:defRPr sz="1500" b="1">
                <a:solidFill>
                  <a:srgbClr val="F59E0B"/>
                </a:solidFill>
              </a:defRPr>
            </a:pPr>
            <a:r>
              <a:t>[VALUATION ENGINE]  Seller Recommender Engine</a:t>
            </a:r>
          </a:p>
          <a:p>
            <a:pPr>
              <a:spcBef>
                <a:spcPts val="600"/>
              </a:spcBef>
              <a:defRPr sz="1100">
                <a:solidFill>
                  <a:srgbClr val="94A3B8"/>
                </a:solidFill>
              </a:defRPr>
            </a:pPr>
            <a:r>
              <a:t>• 'What Should You List?' algorithmic calculator.</a:t>
            </a:r>
          </a:p>
          <a:p>
            <a:pPr>
              <a:spcBef>
                <a:spcPts val="600"/>
              </a:spcBef>
              <a:defRPr sz="1100">
                <a:solidFill>
                  <a:srgbClr val="94A3B8"/>
                </a:solidFill>
              </a:defRPr>
            </a:pPr>
            <a:r>
              <a:t>• Founders input ARR, technical defensibility, and user churn.</a:t>
            </a:r>
          </a:p>
          <a:p>
            <a:pPr>
              <a:spcBef>
                <a:spcPts val="600"/>
              </a:spcBef>
              <a:defRPr sz="1100">
                <a:solidFill>
                  <a:srgbClr val="94A3B8"/>
                </a:solidFill>
              </a:defRPr>
            </a:pPr>
            <a:r>
              <a:t>• Instant Output: Computes realistic valuation multiple, clearance probability, &amp; audit score.</a:t>
            </a:r>
          </a:p>
          <a:p>
            <a:pPr>
              <a:spcBef>
                <a:spcPts val="600"/>
              </a:spcBef>
              <a:defRPr sz="1100">
                <a:solidFill>
                  <a:srgbClr val="94A3B8"/>
                </a:solidFill>
              </a:defRPr>
            </a:pPr>
            <a:r>
              <a:t>• Acts as a powerful self-service conversion funnel for sellers.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8BDF8"/>
                </a:solidFill>
              </a:defRPr>
            </a:pPr>
            <a:r>
              <a:t>PLATFORM FUNCTIONALITY</a:t>
            </a:r>
          </a:p>
        </p:txBody>
      </p:sp>
      <p:sp>
        <p:nvSpPr>
          <p:cNvPr id="4" name="TextBox 3"/>
          <p:cNvSpPr txBox="1"/>
          <p:nvPr/>
        </p:nvSpPr>
        <p:spPr>
          <a:xfrm>
            <a:off x="731520" y="822960"/>
            <a:ext cx="10698480" cy="731520"/>
          </a:xfrm>
          <a:prstGeom prst="rect">
            <a:avLst/>
          </a:prstGeom>
          <a:noFill/>
        </p:spPr>
        <p:txBody>
          <a:bodyPr wrap="square">
            <a:spAutoFit/>
          </a:bodyPr>
          <a:lstStyle/>
          <a:p>
            <a:pPr>
              <a:defRPr sz="2400" b="1">
                <a:solidFill>
                  <a:srgbClr val="F8FAFC"/>
                </a:solidFill>
              </a:defRPr>
            </a:pPr>
            <a:r>
              <a:t>Major Capabilities: Marketplace &amp; Due Diligence</a:t>
            </a:r>
          </a:p>
          <a:p>
            <a:pPr>
              <a:defRPr sz="1200">
                <a:solidFill>
                  <a:srgbClr val="94A3B8"/>
                </a:solidFill>
              </a:defRPr>
            </a:pPr>
            <a:r>
              <a:t>End-to-end tooling from multi-facet search to confidential data rooms.</a:t>
            </a:r>
          </a:p>
        </p:txBody>
      </p:sp>
      <p:sp>
        <p:nvSpPr>
          <p:cNvPr id="5" name="Rounded Rectangle 4"/>
          <p:cNvSpPr/>
          <p:nvPr/>
        </p:nvSpPr>
        <p:spPr>
          <a:xfrm>
            <a:off x="731520"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2834640" cy="4023359"/>
          </a:xfrm>
          <a:prstGeom prst="rect">
            <a:avLst/>
          </a:prstGeom>
          <a:noFill/>
        </p:spPr>
        <p:txBody>
          <a:bodyPr wrap="square">
            <a:spAutoFit/>
          </a:bodyPr>
          <a:lstStyle/>
          <a:p>
            <a:pPr>
              <a:defRPr sz="1500" b="1">
                <a:solidFill>
                  <a:srgbClr val="38BDF8"/>
                </a:solidFill>
              </a:defRPr>
            </a:pPr>
            <a:r>
              <a:t>[BROWSE &amp; SEARCH]  Verified Marketplace</a:t>
            </a:r>
          </a:p>
          <a:p>
            <a:pPr>
              <a:spcBef>
                <a:spcPts val="600"/>
              </a:spcBef>
              <a:defRPr sz="1100">
                <a:solidFill>
                  <a:srgbClr val="94A3B8"/>
                </a:solidFill>
              </a:defRPr>
            </a:pPr>
            <a:r>
              <a:t>• Comprehensive filterable directory across 14 software sectors.</a:t>
            </a:r>
          </a:p>
          <a:p>
            <a:pPr>
              <a:spcBef>
                <a:spcPts val="600"/>
              </a:spcBef>
              <a:defRPr sz="1100">
                <a:solidFill>
                  <a:srgbClr val="94A3B8"/>
                </a:solidFill>
              </a:defRPr>
            </a:pPr>
            <a:r>
              <a:t>• Multi-parameter search: sector, revenue range, valuation multiple, and audit tiers.</a:t>
            </a:r>
          </a:p>
          <a:p>
            <a:pPr>
              <a:spcBef>
                <a:spcPts val="600"/>
              </a:spcBef>
              <a:defRPr sz="1100">
                <a:solidFill>
                  <a:srgbClr val="94A3B8"/>
                </a:solidFill>
              </a:defRPr>
            </a:pPr>
            <a:r>
              <a:t>• Audited Listing Cards: Shows verified ARR, EBITDA margins, code safety score, and tech stack tags.</a:t>
            </a:r>
          </a:p>
        </p:txBody>
      </p:sp>
      <p:sp>
        <p:nvSpPr>
          <p:cNvPr id="7" name="Rounded Rectangle 6"/>
          <p:cNvSpPr/>
          <p:nvPr/>
        </p:nvSpPr>
        <p:spPr>
          <a:xfrm>
            <a:off x="4443984"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2584" y="2011680"/>
            <a:ext cx="2834640" cy="4023359"/>
          </a:xfrm>
          <a:prstGeom prst="rect">
            <a:avLst/>
          </a:prstGeom>
          <a:noFill/>
        </p:spPr>
        <p:txBody>
          <a:bodyPr wrap="square">
            <a:spAutoFit/>
          </a:bodyPr>
          <a:lstStyle/>
          <a:p>
            <a:pPr>
              <a:defRPr sz="1500" b="1">
                <a:solidFill>
                  <a:srgbClr val="F59E0B"/>
                </a:solidFill>
              </a:defRPr>
            </a:pPr>
            <a:r>
              <a:t>[CONFIDENTIAL VDR]  Virtual Data Room (VDR)</a:t>
            </a:r>
          </a:p>
          <a:p>
            <a:pPr>
              <a:spcBef>
                <a:spcPts val="600"/>
              </a:spcBef>
              <a:defRPr sz="1100">
                <a:solidFill>
                  <a:srgbClr val="94A3B8"/>
                </a:solidFill>
              </a:defRPr>
            </a:pPr>
            <a:r>
              <a:t>• Compliance-gated confidential diligence chamber.</a:t>
            </a:r>
          </a:p>
          <a:p>
            <a:pPr>
              <a:spcBef>
                <a:spcPts val="600"/>
              </a:spcBef>
              <a:defRPr sz="1100">
                <a:solidFill>
                  <a:srgbClr val="94A3B8"/>
                </a:solidFill>
              </a:defRPr>
            </a:pPr>
            <a:r>
              <a:t>• Simulated NDA execution workflow: Unlocks sensitive financials and tax history upon sign-off.</a:t>
            </a:r>
          </a:p>
          <a:p>
            <a:pPr>
              <a:spcBef>
                <a:spcPts val="600"/>
              </a:spcBef>
              <a:defRPr sz="1100">
                <a:solidFill>
                  <a:srgbClr val="94A3B8"/>
                </a:solidFill>
              </a:defRPr>
            </a:pPr>
            <a:r>
              <a:t>• Displays sanitized git commit telemetry, customer concentration curves, and security logs.</a:t>
            </a:r>
          </a:p>
        </p:txBody>
      </p:sp>
      <p:sp>
        <p:nvSpPr>
          <p:cNvPr id="9" name="Rounded Rectangle 8"/>
          <p:cNvSpPr/>
          <p:nvPr/>
        </p:nvSpPr>
        <p:spPr>
          <a:xfrm>
            <a:off x="8165592"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2011680"/>
            <a:ext cx="2834640" cy="4023359"/>
          </a:xfrm>
          <a:prstGeom prst="rect">
            <a:avLst/>
          </a:prstGeom>
          <a:noFill/>
        </p:spPr>
        <p:txBody>
          <a:bodyPr wrap="square">
            <a:spAutoFit/>
          </a:bodyPr>
          <a:lstStyle/>
          <a:p>
            <a:pPr>
              <a:defRPr sz="1500" b="1">
                <a:solidFill>
                  <a:srgbClr val="34D399"/>
                </a:solidFill>
              </a:defRPr>
            </a:pPr>
            <a:r>
              <a:t>[VIDEO TERMINAL]  Video Diligence Terminal</a:t>
            </a:r>
          </a:p>
          <a:p>
            <a:pPr>
              <a:spcBef>
                <a:spcPts val="600"/>
              </a:spcBef>
              <a:defRPr sz="1100">
                <a:solidFill>
                  <a:srgbClr val="94A3B8"/>
                </a:solidFill>
              </a:defRPr>
            </a:pPr>
            <a:r>
              <a:t>• WebRTC-style technical review console embedded in every dossier.</a:t>
            </a:r>
          </a:p>
          <a:p>
            <a:pPr>
              <a:spcBef>
                <a:spcPts val="600"/>
              </a:spcBef>
              <a:defRPr sz="1100">
                <a:solidFill>
                  <a:srgbClr val="94A3B8"/>
                </a:solidFill>
              </a:defRPr>
            </a:pPr>
            <a:r>
              <a:t>• Provides founder-led code walkthroughs with timestamped chapter markers.</a:t>
            </a:r>
          </a:p>
          <a:p>
            <a:pPr>
              <a:spcBef>
                <a:spcPts val="600"/>
              </a:spcBef>
              <a:defRPr sz="1100">
                <a:solidFill>
                  <a:srgbClr val="94A3B8"/>
                </a:solidFill>
              </a:defRPr>
            </a:pPr>
            <a:r>
              <a:t>• Integrates verified auditor notes alongside technical architecture diagrams.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8BDF8"/>
                </a:solidFill>
              </a:defRPr>
            </a:pPr>
            <a:r>
              <a:t>PROPRIETARY INNOVATION</a:t>
            </a:r>
          </a:p>
        </p:txBody>
      </p:sp>
      <p:sp>
        <p:nvSpPr>
          <p:cNvPr id="4" name="TextBox 3"/>
          <p:cNvSpPr txBox="1"/>
          <p:nvPr/>
        </p:nvSpPr>
        <p:spPr>
          <a:xfrm>
            <a:off x="731520" y="822960"/>
            <a:ext cx="10698480" cy="731520"/>
          </a:xfrm>
          <a:prstGeom prst="rect">
            <a:avLst/>
          </a:prstGeom>
          <a:noFill/>
        </p:spPr>
        <p:txBody>
          <a:bodyPr wrap="square">
            <a:spAutoFit/>
          </a:bodyPr>
          <a:lstStyle/>
          <a:p>
            <a:pPr>
              <a:defRPr sz="2400" b="1">
                <a:solidFill>
                  <a:srgbClr val="F8FAFC"/>
                </a:solidFill>
              </a:defRPr>
            </a:pPr>
            <a:r>
              <a:t>The Atomic Handover Protocol™</a:t>
            </a:r>
          </a:p>
          <a:p>
            <a:pPr>
              <a:defRPr sz="1200">
                <a:solidFill>
                  <a:srgbClr val="94A3B8"/>
                </a:solidFill>
              </a:defRPr>
            </a:pPr>
            <a:r>
              <a:t>Our 4-phase sequential custody transfer engine with live interactive simulation.</a:t>
            </a:r>
          </a:p>
        </p:txBody>
      </p:sp>
      <p:sp>
        <p:nvSpPr>
          <p:cNvPr id="5" name="Rounded Rectangle 4"/>
          <p:cNvSpPr/>
          <p:nvPr/>
        </p:nvSpPr>
        <p:spPr>
          <a:xfrm>
            <a:off x="731520" y="1828800"/>
            <a:ext cx="256032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11680"/>
            <a:ext cx="2286000" cy="3931920"/>
          </a:xfrm>
          <a:prstGeom prst="rect">
            <a:avLst/>
          </a:prstGeom>
          <a:noFill/>
        </p:spPr>
        <p:txBody>
          <a:bodyPr wrap="square">
            <a:spAutoFit/>
          </a:bodyPr>
          <a:lstStyle/>
          <a:p>
            <a:pPr>
              <a:defRPr sz="1200" b="1">
                <a:solidFill>
                  <a:srgbClr val="38BDF8"/>
                </a:solidFill>
              </a:defRPr>
            </a:pPr>
            <a:r>
              <a:t>STEP 1</a:t>
            </a:r>
          </a:p>
          <a:p>
            <a:pPr>
              <a:spcBef>
                <a:spcPts val="800"/>
              </a:spcBef>
              <a:defRPr sz="1400" b="1">
                <a:solidFill>
                  <a:srgbClr val="F8FAFC"/>
                </a:solidFill>
              </a:defRPr>
            </a:pPr>
            <a:r>
              <a:t>Phase 1: Escrow Collateral</a:t>
            </a:r>
          </a:p>
          <a:p>
            <a:pPr>
              <a:spcBef>
                <a:spcPts val="1200"/>
              </a:spcBef>
              <a:defRPr sz="1100">
                <a:solidFill>
                  <a:srgbClr val="94A3B8"/>
                </a:solidFill>
              </a:defRPr>
            </a:pPr>
            <a:r>
              <a:t>Buyer deposits 100% of purchase capital into a multi-signature escrow account. Funds are locked and visible to the seller.</a:t>
            </a:r>
          </a:p>
        </p:txBody>
      </p:sp>
      <p:sp>
        <p:nvSpPr>
          <p:cNvPr id="7" name="Rounded Rectangle 6"/>
          <p:cNvSpPr/>
          <p:nvPr/>
        </p:nvSpPr>
        <p:spPr>
          <a:xfrm>
            <a:off x="3429000" y="1828800"/>
            <a:ext cx="256032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2011680"/>
            <a:ext cx="2286000" cy="3931920"/>
          </a:xfrm>
          <a:prstGeom prst="rect">
            <a:avLst/>
          </a:prstGeom>
          <a:noFill/>
        </p:spPr>
        <p:txBody>
          <a:bodyPr wrap="square">
            <a:spAutoFit/>
          </a:bodyPr>
          <a:lstStyle/>
          <a:p>
            <a:pPr>
              <a:defRPr sz="1200" b="1">
                <a:solidFill>
                  <a:srgbClr val="34D399"/>
                </a:solidFill>
              </a:defRPr>
            </a:pPr>
            <a:r>
              <a:t>STEP 2</a:t>
            </a:r>
          </a:p>
          <a:p>
            <a:pPr>
              <a:spcBef>
                <a:spcPts val="800"/>
              </a:spcBef>
              <a:defRPr sz="1400" b="1">
                <a:solidFill>
                  <a:srgbClr val="F8FAFC"/>
                </a:solidFill>
              </a:defRPr>
            </a:pPr>
            <a:r>
              <a:t>Phase 2: Code &amp; Cloud Lock</a:t>
            </a:r>
          </a:p>
          <a:p>
            <a:pPr>
              <a:spcBef>
                <a:spcPts val="1200"/>
              </a:spcBef>
              <a:defRPr sz="1100">
                <a:solidFill>
                  <a:srgbClr val="94A3B8"/>
                </a:solidFill>
              </a:defRPr>
            </a:pPr>
            <a:r>
              <a:t>GitHub repos, AWS/GCP root credentials, and database snapshots are transferred into neutral escrow custody and validated.</a:t>
            </a:r>
          </a:p>
        </p:txBody>
      </p:sp>
      <p:sp>
        <p:nvSpPr>
          <p:cNvPr id="9" name="Rounded Rectangle 8"/>
          <p:cNvSpPr/>
          <p:nvPr/>
        </p:nvSpPr>
        <p:spPr>
          <a:xfrm>
            <a:off x="6126480" y="1828800"/>
            <a:ext cx="256032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2011680"/>
            <a:ext cx="2286000" cy="3931920"/>
          </a:xfrm>
          <a:prstGeom prst="rect">
            <a:avLst/>
          </a:prstGeom>
          <a:noFill/>
        </p:spPr>
        <p:txBody>
          <a:bodyPr wrap="square">
            <a:spAutoFit/>
          </a:bodyPr>
          <a:lstStyle/>
          <a:p>
            <a:pPr>
              <a:defRPr sz="1200" b="1">
                <a:solidFill>
                  <a:srgbClr val="F59E0B"/>
                </a:solidFill>
              </a:defRPr>
            </a:pPr>
            <a:r>
              <a:t>STEP 3</a:t>
            </a:r>
          </a:p>
          <a:p>
            <a:pPr>
              <a:spcBef>
                <a:spcPts val="800"/>
              </a:spcBef>
              <a:defRPr sz="1400" b="1">
                <a:solidFill>
                  <a:srgbClr val="F8FAFC"/>
                </a:solidFill>
              </a:defRPr>
            </a:pPr>
            <a:r>
              <a:t>Phase 3: Domain &amp; DNS Migration</a:t>
            </a:r>
          </a:p>
          <a:p>
            <a:pPr>
              <a:spcBef>
                <a:spcPts val="1200"/>
              </a:spcBef>
              <a:defRPr sz="1100">
                <a:solidFill>
                  <a:srgbClr val="94A3B8"/>
                </a:solidFill>
              </a:defRPr>
            </a:pPr>
            <a:r>
              <a:t>Registrar credentials, SSL certificates, and DNS records are migrated to buyer infrastructure with zero downtime.</a:t>
            </a:r>
          </a:p>
        </p:txBody>
      </p:sp>
      <p:sp>
        <p:nvSpPr>
          <p:cNvPr id="11" name="Rounded Rectangle 10"/>
          <p:cNvSpPr/>
          <p:nvPr/>
        </p:nvSpPr>
        <p:spPr>
          <a:xfrm>
            <a:off x="8823960" y="1828800"/>
            <a:ext cx="256032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0" y="2011680"/>
            <a:ext cx="2286000" cy="3931920"/>
          </a:xfrm>
          <a:prstGeom prst="rect">
            <a:avLst/>
          </a:prstGeom>
          <a:noFill/>
        </p:spPr>
        <p:txBody>
          <a:bodyPr wrap="square">
            <a:spAutoFit/>
          </a:bodyPr>
          <a:lstStyle/>
          <a:p>
            <a:pPr>
              <a:defRPr sz="1200" b="1">
                <a:solidFill>
                  <a:srgbClr val="38BDF8"/>
                </a:solidFill>
              </a:defRPr>
            </a:pPr>
            <a:r>
              <a:t>STEP 4</a:t>
            </a:r>
          </a:p>
          <a:p>
            <a:pPr>
              <a:spcBef>
                <a:spcPts val="800"/>
              </a:spcBef>
              <a:defRPr sz="1400" b="1">
                <a:solidFill>
                  <a:srgbClr val="F8FAFC"/>
                </a:solidFill>
              </a:defRPr>
            </a:pPr>
            <a:r>
              <a:t>Phase 4: Dual Sign-off &amp; Release</a:t>
            </a:r>
          </a:p>
          <a:p>
            <a:pPr>
              <a:spcBef>
                <a:spcPts val="1200"/>
              </a:spcBef>
              <a:defRPr sz="1100">
                <a:solidFill>
                  <a:srgbClr val="94A3B8"/>
                </a:solidFill>
              </a:defRPr>
            </a:pPr>
            <a:r>
              <a:t>Buyer completes technical acceptance testing. Both parties sign off digitally, and escrow funds release simultaneously.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8BDF8"/>
                </a:solidFill>
              </a:defRPr>
            </a:pPr>
            <a:r>
              <a:t>ENGINEERING &amp; ARCHITECTURE</a:t>
            </a:r>
          </a:p>
        </p:txBody>
      </p:sp>
      <p:sp>
        <p:nvSpPr>
          <p:cNvPr id="4" name="TextBox 3"/>
          <p:cNvSpPr txBox="1"/>
          <p:nvPr/>
        </p:nvSpPr>
        <p:spPr>
          <a:xfrm>
            <a:off x="731520" y="822960"/>
            <a:ext cx="10698480" cy="731520"/>
          </a:xfrm>
          <a:prstGeom prst="rect">
            <a:avLst/>
          </a:prstGeom>
          <a:noFill/>
        </p:spPr>
        <p:txBody>
          <a:bodyPr wrap="square">
            <a:spAutoFit/>
          </a:bodyPr>
          <a:lstStyle/>
          <a:p>
            <a:pPr>
              <a:defRPr sz="2400" b="1">
                <a:solidFill>
                  <a:srgbClr val="F8FAFC"/>
                </a:solidFill>
              </a:defRPr>
            </a:pPr>
            <a:r>
              <a:t>The Technology Stack</a:t>
            </a:r>
          </a:p>
          <a:p>
            <a:pPr>
              <a:defRPr sz="1200">
                <a:solidFill>
                  <a:srgbClr val="94A3B8"/>
                </a:solidFill>
              </a:defRPr>
            </a:pPr>
            <a:r>
              <a:t>Engineered for maximum speed, security, and zero dependency maintenance.</a:t>
            </a:r>
          </a:p>
        </p:txBody>
      </p:sp>
      <p:sp>
        <p:nvSpPr>
          <p:cNvPr id="5" name="Rounded Rectangle 4"/>
          <p:cNvSpPr/>
          <p:nvPr/>
        </p:nvSpPr>
        <p:spPr>
          <a:xfrm>
            <a:off x="731520" y="1828800"/>
            <a:ext cx="251460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2057400" cy="4023359"/>
          </a:xfrm>
          <a:prstGeom prst="rect">
            <a:avLst/>
          </a:prstGeom>
          <a:noFill/>
        </p:spPr>
        <p:txBody>
          <a:bodyPr wrap="square">
            <a:spAutoFit/>
          </a:bodyPr>
          <a:lstStyle/>
          <a:p>
            <a:pPr>
              <a:defRPr sz="1500" b="1">
                <a:solidFill>
                  <a:srgbClr val="38BDF8"/>
                </a:solidFill>
              </a:defRPr>
            </a:pPr>
            <a:r>
              <a:t>[STRUCTURE]  HTML5 Semantic</a:t>
            </a:r>
          </a:p>
          <a:p>
            <a:pPr>
              <a:spcBef>
                <a:spcPts val="600"/>
              </a:spcBef>
              <a:defRPr sz="1100">
                <a:solidFill>
                  <a:srgbClr val="94A3B8"/>
                </a:solidFill>
              </a:defRPr>
            </a:pPr>
            <a:r>
              <a:t>• W3C compliant semantic markup.</a:t>
            </a:r>
          </a:p>
          <a:p>
            <a:pPr>
              <a:spcBef>
                <a:spcPts val="600"/>
              </a:spcBef>
              <a:defRPr sz="1100">
                <a:solidFill>
                  <a:srgbClr val="94A3B8"/>
                </a:solidFill>
              </a:defRPr>
            </a:pPr>
            <a:r>
              <a:t>• ARIA accessibility labels.</a:t>
            </a:r>
          </a:p>
          <a:p>
            <a:pPr>
              <a:spcBef>
                <a:spcPts val="600"/>
              </a:spcBef>
              <a:defRPr sz="1100">
                <a:solidFill>
                  <a:srgbClr val="94A3B8"/>
                </a:solidFill>
              </a:defRPr>
            </a:pPr>
            <a:r>
              <a:t>• Multi-view SPA architecture.</a:t>
            </a:r>
          </a:p>
          <a:p>
            <a:pPr>
              <a:spcBef>
                <a:spcPts val="600"/>
              </a:spcBef>
              <a:defRPr sz="1100">
                <a:solidFill>
                  <a:srgbClr val="94A3B8"/>
                </a:solidFill>
              </a:defRPr>
            </a:pPr>
            <a:r>
              <a:t>• 8 separate interactive routes in a single lightweight DOM.</a:t>
            </a:r>
          </a:p>
        </p:txBody>
      </p:sp>
      <p:sp>
        <p:nvSpPr>
          <p:cNvPr id="7" name="Rounded Rectangle 6"/>
          <p:cNvSpPr/>
          <p:nvPr/>
        </p:nvSpPr>
        <p:spPr>
          <a:xfrm>
            <a:off x="3429000" y="1828800"/>
            <a:ext cx="251460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0" y="2011680"/>
            <a:ext cx="2057400" cy="4023359"/>
          </a:xfrm>
          <a:prstGeom prst="rect">
            <a:avLst/>
          </a:prstGeom>
          <a:noFill/>
        </p:spPr>
        <p:txBody>
          <a:bodyPr wrap="square">
            <a:spAutoFit/>
          </a:bodyPr>
          <a:lstStyle/>
          <a:p>
            <a:pPr>
              <a:defRPr sz="1500" b="1">
                <a:solidFill>
                  <a:srgbClr val="34D399"/>
                </a:solidFill>
              </a:defRPr>
            </a:pPr>
            <a:r>
              <a:t>[STYLING]  CSS3 &amp; BEM</a:t>
            </a:r>
          </a:p>
          <a:p>
            <a:pPr>
              <a:spcBef>
                <a:spcPts val="600"/>
              </a:spcBef>
              <a:defRPr sz="1100">
                <a:solidFill>
                  <a:srgbClr val="94A3B8"/>
                </a:solidFill>
              </a:defRPr>
            </a:pPr>
            <a:r>
              <a:t>• BEM (Block Element Modifier) architecture.</a:t>
            </a:r>
          </a:p>
          <a:p>
            <a:pPr>
              <a:spcBef>
                <a:spcPts val="600"/>
              </a:spcBef>
              <a:defRPr sz="1100">
                <a:solidFill>
                  <a:srgbClr val="94A3B8"/>
                </a:solidFill>
              </a:defRPr>
            </a:pPr>
            <a:r>
              <a:t>• Native CSS custom properties for instant role/theme switching.</a:t>
            </a:r>
          </a:p>
          <a:p>
            <a:pPr>
              <a:spcBef>
                <a:spcPts val="600"/>
              </a:spcBef>
              <a:defRPr sz="1100">
                <a:solidFill>
                  <a:srgbClr val="94A3B8"/>
                </a:solidFill>
              </a:defRPr>
            </a:pPr>
            <a:r>
              <a:t>• Zero CSS frameworks (no Tailwind or Bootstrap bloat).</a:t>
            </a:r>
          </a:p>
          <a:p>
            <a:pPr>
              <a:spcBef>
                <a:spcPts val="600"/>
              </a:spcBef>
              <a:defRPr sz="1100">
                <a:solidFill>
                  <a:srgbClr val="94A3B8"/>
                </a:solidFill>
              </a:defRPr>
            </a:pPr>
            <a:r>
              <a:t>• 100% responsive fluid grid.</a:t>
            </a:r>
          </a:p>
        </p:txBody>
      </p:sp>
      <p:sp>
        <p:nvSpPr>
          <p:cNvPr id="9" name="Rounded Rectangle 8"/>
          <p:cNvSpPr/>
          <p:nvPr/>
        </p:nvSpPr>
        <p:spPr>
          <a:xfrm>
            <a:off x="6126480" y="1828800"/>
            <a:ext cx="251460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2011680"/>
            <a:ext cx="2057400" cy="4023359"/>
          </a:xfrm>
          <a:prstGeom prst="rect">
            <a:avLst/>
          </a:prstGeom>
          <a:noFill/>
        </p:spPr>
        <p:txBody>
          <a:bodyPr wrap="square">
            <a:spAutoFit/>
          </a:bodyPr>
          <a:lstStyle/>
          <a:p>
            <a:pPr>
              <a:defRPr sz="1500" b="1">
                <a:solidFill>
                  <a:srgbClr val="F59E0B"/>
                </a:solidFill>
              </a:defRPr>
            </a:pPr>
            <a:r>
              <a:t>[LOGIC]  Vanilla JS (ES6+)</a:t>
            </a:r>
          </a:p>
          <a:p>
            <a:pPr>
              <a:spcBef>
                <a:spcPts val="600"/>
              </a:spcBef>
              <a:defRPr sz="1100">
                <a:solidFill>
                  <a:srgbClr val="94A3B8"/>
                </a:solidFill>
              </a:defRPr>
            </a:pPr>
            <a:r>
              <a:t>• Pure modern JavaScript.</a:t>
            </a:r>
          </a:p>
          <a:p>
            <a:pPr>
              <a:spcBef>
                <a:spcPts val="600"/>
              </a:spcBef>
              <a:defRPr sz="1100">
                <a:solidFill>
                  <a:srgbClr val="94A3B8"/>
                </a:solidFill>
              </a:defRPr>
            </a:pPr>
            <a:r>
              <a:t>• Zero npm dependencies (no React, Vue, or jQuery).</a:t>
            </a:r>
          </a:p>
          <a:p>
            <a:pPr>
              <a:spcBef>
                <a:spcPts val="600"/>
              </a:spcBef>
              <a:defRPr sz="1100">
                <a:solidFill>
                  <a:srgbClr val="94A3B8"/>
                </a:solidFill>
              </a:defRPr>
            </a:pPr>
            <a:r>
              <a:t>• Mathematical SVG chart rendering engine.</a:t>
            </a:r>
          </a:p>
          <a:p>
            <a:pPr>
              <a:spcBef>
                <a:spcPts val="600"/>
              </a:spcBef>
              <a:defRPr sz="1100">
                <a:solidFill>
                  <a:srgbClr val="94A3B8"/>
                </a:solidFill>
              </a:defRPr>
            </a:pPr>
            <a:r>
              <a:t>• Client-side hash routing &amp; reactive state engine.</a:t>
            </a:r>
          </a:p>
        </p:txBody>
      </p:sp>
      <p:sp>
        <p:nvSpPr>
          <p:cNvPr id="11" name="Rounded Rectangle 10"/>
          <p:cNvSpPr/>
          <p:nvPr/>
        </p:nvSpPr>
        <p:spPr>
          <a:xfrm>
            <a:off x="8823960" y="1828800"/>
            <a:ext cx="26060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0" y="2011680"/>
            <a:ext cx="2148840" cy="4023359"/>
          </a:xfrm>
          <a:prstGeom prst="rect">
            <a:avLst/>
          </a:prstGeom>
          <a:noFill/>
        </p:spPr>
        <p:txBody>
          <a:bodyPr wrap="square">
            <a:spAutoFit/>
          </a:bodyPr>
          <a:lstStyle/>
          <a:p>
            <a:pPr>
              <a:defRPr sz="1500" b="1">
                <a:solidFill>
                  <a:srgbClr val="38BDF8"/>
                </a:solidFill>
              </a:defRPr>
            </a:pPr>
            <a:r>
              <a:t>[DEPLOYMENT]  Git &amp; GitHub Pages</a:t>
            </a:r>
          </a:p>
          <a:p>
            <a:pPr>
              <a:spcBef>
                <a:spcPts val="600"/>
              </a:spcBef>
              <a:defRPr sz="1100">
                <a:solidFill>
                  <a:srgbClr val="94A3B8"/>
                </a:solidFill>
              </a:defRPr>
            </a:pPr>
            <a:r>
              <a:t>• Version-controlled repository under github.com/rohithagarwal/vventra.</a:t>
            </a:r>
          </a:p>
          <a:p>
            <a:pPr>
              <a:spcBef>
                <a:spcPts val="600"/>
              </a:spcBef>
              <a:defRPr sz="1100">
                <a:solidFill>
                  <a:srgbClr val="94A3B8"/>
                </a:solidFill>
              </a:defRPr>
            </a:pPr>
            <a:r>
              <a:t>• Hosted globally on GitHub's high-speed CDN.</a:t>
            </a:r>
          </a:p>
          <a:p>
            <a:pPr>
              <a:spcBef>
                <a:spcPts val="600"/>
              </a:spcBef>
              <a:defRPr sz="1100">
                <a:solidFill>
                  <a:srgbClr val="94A3B8"/>
                </a:solidFill>
              </a:defRPr>
            </a:pPr>
            <a:r>
              <a:t>• Automatic deployment on git push.</a:t>
            </a:r>
          </a:p>
          <a:p>
            <a:pPr>
              <a:spcBef>
                <a:spcPts val="600"/>
              </a:spcBef>
              <a:defRPr sz="1100">
                <a:solidFill>
                  <a:srgbClr val="94A3B8"/>
                </a:solidFill>
              </a:defRPr>
            </a:pPr>
            <a:r>
              <a:t>• Zero hosting fees with 99.99% uptime.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8BDF8"/>
                </a:solidFill>
              </a:defRPr>
            </a:pPr>
            <a:r>
              <a:t>ENGINEERING HIGHLIGHTS</a:t>
            </a:r>
          </a:p>
        </p:txBody>
      </p:sp>
      <p:sp>
        <p:nvSpPr>
          <p:cNvPr id="4" name="TextBox 3"/>
          <p:cNvSpPr txBox="1"/>
          <p:nvPr/>
        </p:nvSpPr>
        <p:spPr>
          <a:xfrm>
            <a:off x="731520" y="822960"/>
            <a:ext cx="10698480" cy="731520"/>
          </a:xfrm>
          <a:prstGeom prst="rect">
            <a:avLst/>
          </a:prstGeom>
          <a:noFill/>
        </p:spPr>
        <p:txBody>
          <a:bodyPr wrap="square">
            <a:spAutoFit/>
          </a:bodyPr>
          <a:lstStyle/>
          <a:p>
            <a:pPr>
              <a:defRPr sz="2400" b="1">
                <a:solidFill>
                  <a:srgbClr val="F8FAFC"/>
                </a:solidFill>
              </a:defRPr>
            </a:pPr>
            <a:r>
              <a:t>Innovative Approaches &amp; Implementations</a:t>
            </a:r>
          </a:p>
          <a:p>
            <a:pPr>
              <a:defRPr sz="1200">
                <a:solidFill>
                  <a:srgbClr val="94A3B8"/>
                </a:solidFill>
              </a:defRPr>
            </a:pPr>
            <a:r>
              <a:t>Unique features that separate vvEntra from conventional listing websites.</a:t>
            </a:r>
          </a:p>
        </p:txBody>
      </p:sp>
      <p:sp>
        <p:nvSpPr>
          <p:cNvPr id="5" name="Rounded Rectangle 4"/>
          <p:cNvSpPr/>
          <p:nvPr/>
        </p:nvSpPr>
        <p:spPr>
          <a:xfrm>
            <a:off x="731520"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2834640" cy="4023359"/>
          </a:xfrm>
          <a:prstGeom prst="rect">
            <a:avLst/>
          </a:prstGeom>
          <a:noFill/>
        </p:spPr>
        <p:txBody>
          <a:bodyPr wrap="square">
            <a:spAutoFit/>
          </a:bodyPr>
          <a:lstStyle/>
          <a:p>
            <a:pPr>
              <a:defRPr sz="1500" b="1">
                <a:solidFill>
                  <a:srgbClr val="38BDF8"/>
                </a:solidFill>
              </a:defRPr>
            </a:pPr>
            <a:r>
              <a:t>[PERSPECTIVE TOGGLE]  Dual-Perspective Engine</a:t>
            </a:r>
          </a:p>
          <a:p>
            <a:pPr>
              <a:spcBef>
                <a:spcPts val="600"/>
              </a:spcBef>
              <a:defRPr sz="1100">
                <a:solidFill>
                  <a:srgbClr val="94A3B8"/>
                </a:solidFill>
              </a:defRPr>
            </a:pPr>
            <a:r>
              <a:t>• A single global toggle switches the entire UI context between Buyer and Seller modes.</a:t>
            </a:r>
          </a:p>
          <a:p>
            <a:pPr>
              <a:spcBef>
                <a:spcPts val="600"/>
              </a:spcBef>
              <a:defRPr sz="1100">
                <a:solidFill>
                  <a:srgbClr val="94A3B8"/>
                </a:solidFill>
              </a:defRPr>
            </a:pPr>
            <a:r>
              <a:t>• Dynamically updates financial KPIs, call-to-actions, and color palettes via CSS variables.</a:t>
            </a:r>
          </a:p>
          <a:p>
            <a:pPr>
              <a:spcBef>
                <a:spcPts val="600"/>
              </a:spcBef>
              <a:defRPr sz="1100">
                <a:solidFill>
                  <a:srgbClr val="94A3B8"/>
                </a:solidFill>
              </a:defRPr>
            </a:pPr>
            <a:r>
              <a:t>• No page reloads or duplicated DOM structures.</a:t>
            </a:r>
          </a:p>
        </p:txBody>
      </p:sp>
      <p:sp>
        <p:nvSpPr>
          <p:cNvPr id="7" name="Rounded Rectangle 6"/>
          <p:cNvSpPr/>
          <p:nvPr/>
        </p:nvSpPr>
        <p:spPr>
          <a:xfrm>
            <a:off x="4443984"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2584" y="2011680"/>
            <a:ext cx="2834640" cy="4023359"/>
          </a:xfrm>
          <a:prstGeom prst="rect">
            <a:avLst/>
          </a:prstGeom>
          <a:noFill/>
        </p:spPr>
        <p:txBody>
          <a:bodyPr wrap="square">
            <a:spAutoFit/>
          </a:bodyPr>
          <a:lstStyle/>
          <a:p>
            <a:pPr>
              <a:defRPr sz="1500" b="1">
                <a:solidFill>
                  <a:srgbClr val="34D399"/>
                </a:solidFill>
              </a:defRPr>
            </a:pPr>
            <a:r>
              <a:t>[ZERO-LIB VISUALS]  Native SVG Chart Engine</a:t>
            </a:r>
          </a:p>
          <a:p>
            <a:pPr>
              <a:spcBef>
                <a:spcPts val="600"/>
              </a:spcBef>
              <a:defRPr sz="1100">
                <a:solidFill>
                  <a:srgbClr val="94A3B8"/>
                </a:solidFill>
              </a:defRPr>
            </a:pPr>
            <a:r>
              <a:t>• Built the 2×2 matrix, demand curves, and spider radar chart without Chart.js or D3.</a:t>
            </a:r>
          </a:p>
          <a:p>
            <a:pPr>
              <a:spcBef>
                <a:spcPts val="600"/>
              </a:spcBef>
              <a:defRPr sz="1100">
                <a:solidFill>
                  <a:srgbClr val="94A3B8"/>
                </a:solidFill>
              </a:defRPr>
            </a:pPr>
            <a:r>
              <a:t>• Pure geometric calculations generate scalable SVG paths dynamically.</a:t>
            </a:r>
          </a:p>
          <a:p>
            <a:pPr>
              <a:spcBef>
                <a:spcPts val="600"/>
              </a:spcBef>
              <a:defRPr sz="1100">
                <a:solidFill>
                  <a:srgbClr val="94A3B8"/>
                </a:solidFill>
              </a:defRPr>
            </a:pPr>
            <a:r>
              <a:t>• Keeps the entire project bundle under 200 KB total.</a:t>
            </a:r>
          </a:p>
        </p:txBody>
      </p:sp>
      <p:sp>
        <p:nvSpPr>
          <p:cNvPr id="9" name="Rounded Rectangle 8"/>
          <p:cNvSpPr/>
          <p:nvPr/>
        </p:nvSpPr>
        <p:spPr>
          <a:xfrm>
            <a:off x="8165592"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2011680"/>
            <a:ext cx="2834640" cy="4023359"/>
          </a:xfrm>
          <a:prstGeom prst="rect">
            <a:avLst/>
          </a:prstGeom>
          <a:noFill/>
        </p:spPr>
        <p:txBody>
          <a:bodyPr wrap="square">
            <a:spAutoFit/>
          </a:bodyPr>
          <a:lstStyle/>
          <a:p>
            <a:pPr>
              <a:defRPr sz="1500" b="1">
                <a:solidFill>
                  <a:srgbClr val="F59E0B"/>
                </a:solidFill>
              </a:defRPr>
            </a:pPr>
            <a:r>
              <a:t>[DESIGN SYSTEM]  Institutional Typography</a:t>
            </a:r>
          </a:p>
          <a:p>
            <a:pPr>
              <a:spcBef>
                <a:spcPts val="600"/>
              </a:spcBef>
              <a:defRPr sz="1100">
                <a:solidFill>
                  <a:srgbClr val="94A3B8"/>
                </a:solidFill>
              </a:defRPr>
            </a:pPr>
            <a:r>
              <a:t>• Replaced generic neon-crypto styling with an editorial private-equity aesthetic.</a:t>
            </a:r>
          </a:p>
          <a:p>
            <a:pPr>
              <a:spcBef>
                <a:spcPts val="600"/>
              </a:spcBef>
              <a:defRPr sz="1100">
                <a:solidFill>
                  <a:srgbClr val="94A3B8"/>
                </a:solidFill>
              </a:defRPr>
            </a:pPr>
            <a:r>
              <a:t>• Uses Geist Sans for structure, Instrument Serif for institutional authority, and JetBrains Mono for financial figures.</a:t>
            </a:r>
          </a:p>
          <a:p>
            <a:pPr>
              <a:spcBef>
                <a:spcPts val="600"/>
              </a:spcBef>
              <a:defRPr sz="1100">
                <a:solidFill>
                  <a:srgbClr val="94A3B8"/>
                </a:solidFill>
              </a:defRPr>
            </a:pPr>
            <a:r>
              <a:t>• Instantly builds credibility with six- and seven-figure investors.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8BDF8"/>
                </a:solidFill>
              </a:defRPr>
            </a:pPr>
            <a:r>
              <a:t>REFLECTIONS &amp; INSIGHTS</a:t>
            </a:r>
          </a:p>
        </p:txBody>
      </p:sp>
      <p:sp>
        <p:nvSpPr>
          <p:cNvPr id="4" name="TextBox 3"/>
          <p:cNvSpPr txBox="1"/>
          <p:nvPr/>
        </p:nvSpPr>
        <p:spPr>
          <a:xfrm>
            <a:off x="731520" y="822960"/>
            <a:ext cx="10698480" cy="731520"/>
          </a:xfrm>
          <a:prstGeom prst="rect">
            <a:avLst/>
          </a:prstGeom>
          <a:noFill/>
        </p:spPr>
        <p:txBody>
          <a:bodyPr wrap="square">
            <a:spAutoFit/>
          </a:bodyPr>
          <a:lstStyle/>
          <a:p>
            <a:pPr>
              <a:defRPr sz="2400" b="1">
                <a:solidFill>
                  <a:srgbClr val="F8FAFC"/>
                </a:solidFill>
              </a:defRPr>
            </a:pPr>
            <a:r>
              <a:t>Key Learnings While Working on It</a:t>
            </a:r>
          </a:p>
          <a:p>
            <a:pPr>
              <a:defRPr sz="1200">
                <a:solidFill>
                  <a:srgbClr val="94A3B8"/>
                </a:solidFill>
              </a:defRPr>
            </a:pPr>
            <a:r>
              <a:t>Engineering and product lessons discovered during platform development.</a:t>
            </a:r>
          </a:p>
        </p:txBody>
      </p:sp>
      <p:sp>
        <p:nvSpPr>
          <p:cNvPr id="5" name="Rounded Rectangle 4"/>
          <p:cNvSpPr/>
          <p:nvPr/>
        </p:nvSpPr>
        <p:spPr>
          <a:xfrm>
            <a:off x="731520"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2834640" cy="4023359"/>
          </a:xfrm>
          <a:prstGeom prst="rect">
            <a:avLst/>
          </a:prstGeom>
          <a:noFill/>
        </p:spPr>
        <p:txBody>
          <a:bodyPr wrap="square">
            <a:spAutoFit/>
          </a:bodyPr>
          <a:lstStyle/>
          <a:p>
            <a:pPr>
              <a:defRPr sz="1500" b="1">
                <a:solidFill>
                  <a:srgbClr val="38BDF8"/>
                </a:solidFill>
              </a:defRPr>
            </a:pPr>
            <a:r>
              <a:t>[ARCHITECTURE]  Framework Independence</a:t>
            </a:r>
          </a:p>
          <a:p>
            <a:pPr>
              <a:spcBef>
                <a:spcPts val="600"/>
              </a:spcBef>
              <a:defRPr sz="1100">
                <a:solidFill>
                  <a:srgbClr val="94A3B8"/>
                </a:solidFill>
              </a:defRPr>
            </a:pPr>
            <a:r>
              <a:t>• Modern browsers have evolved: Native CSS custom properties and ES6 modules can replicate 95% of React's benefits.</a:t>
            </a:r>
          </a:p>
          <a:p>
            <a:pPr>
              <a:spcBef>
                <a:spcPts val="600"/>
              </a:spcBef>
              <a:defRPr sz="1100">
                <a:solidFill>
                  <a:srgbClr val="94A3B8"/>
                </a:solidFill>
              </a:defRPr>
            </a:pPr>
            <a:r>
              <a:t>• Zero dependencies means zero vulnerability alerts, zero build-step breakages, and sub-150ms global load times.</a:t>
            </a:r>
          </a:p>
          <a:p>
            <a:pPr>
              <a:spcBef>
                <a:spcPts val="600"/>
              </a:spcBef>
              <a:defRPr sz="1100">
                <a:solidFill>
                  <a:srgbClr val="94A3B8"/>
                </a:solidFill>
              </a:defRPr>
            </a:pPr>
            <a:r>
              <a:t>• Writing vanilla code sharpens core DOM and architectural fundamentals.</a:t>
            </a:r>
          </a:p>
        </p:txBody>
      </p:sp>
      <p:sp>
        <p:nvSpPr>
          <p:cNvPr id="7" name="Rounded Rectangle 6"/>
          <p:cNvSpPr/>
          <p:nvPr/>
        </p:nvSpPr>
        <p:spPr>
          <a:xfrm>
            <a:off x="4443984"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2584" y="2011680"/>
            <a:ext cx="2834640" cy="4023359"/>
          </a:xfrm>
          <a:prstGeom prst="rect">
            <a:avLst/>
          </a:prstGeom>
          <a:noFill/>
        </p:spPr>
        <p:txBody>
          <a:bodyPr wrap="square">
            <a:spAutoFit/>
          </a:bodyPr>
          <a:lstStyle/>
          <a:p>
            <a:pPr>
              <a:defRPr sz="1500" b="1">
                <a:solidFill>
                  <a:srgbClr val="34D399"/>
                </a:solidFill>
              </a:defRPr>
            </a:pPr>
            <a:r>
              <a:t>[PRODUCT DESIGN]  Trust UX in FinTech</a:t>
            </a:r>
          </a:p>
          <a:p>
            <a:pPr>
              <a:spcBef>
                <a:spcPts val="600"/>
              </a:spcBef>
              <a:defRPr sz="1100">
                <a:solidFill>
                  <a:srgbClr val="94A3B8"/>
                </a:solidFill>
              </a:defRPr>
            </a:pPr>
            <a:r>
              <a:t>• In high-value financial platforms, clarity beats flashiness every time.</a:t>
            </a:r>
          </a:p>
          <a:p>
            <a:pPr>
              <a:spcBef>
                <a:spcPts val="600"/>
              </a:spcBef>
              <a:defRPr sz="1100">
                <a:solidFill>
                  <a:srgbClr val="94A3B8"/>
                </a:solidFill>
              </a:defRPr>
            </a:pPr>
            <a:r>
              <a:t>• Institutional users don't want neon glows; they want verified data tables, clear multiples, and verifiable audit trails.</a:t>
            </a:r>
          </a:p>
          <a:p>
            <a:pPr>
              <a:spcBef>
                <a:spcPts val="600"/>
              </a:spcBef>
              <a:defRPr sz="1100">
                <a:solidFill>
                  <a:srgbClr val="94A3B8"/>
                </a:solidFill>
              </a:defRPr>
            </a:pPr>
            <a:r>
              <a:t>• Every UI element must answer: 'Why should I trust this platform with $1,000,000?'</a:t>
            </a:r>
          </a:p>
        </p:txBody>
      </p:sp>
      <p:sp>
        <p:nvSpPr>
          <p:cNvPr id="9" name="Rounded Rectangle 8"/>
          <p:cNvSpPr/>
          <p:nvPr/>
        </p:nvSpPr>
        <p:spPr>
          <a:xfrm>
            <a:off x="8165592" y="1828800"/>
            <a:ext cx="329184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2011680"/>
            <a:ext cx="2834640" cy="4023359"/>
          </a:xfrm>
          <a:prstGeom prst="rect">
            <a:avLst/>
          </a:prstGeom>
          <a:noFill/>
        </p:spPr>
        <p:txBody>
          <a:bodyPr wrap="square">
            <a:spAutoFit/>
          </a:bodyPr>
          <a:lstStyle/>
          <a:p>
            <a:pPr>
              <a:defRPr sz="1500" b="1">
                <a:solidFill>
                  <a:srgbClr val="F59E0B"/>
                </a:solidFill>
              </a:defRPr>
            </a:pPr>
            <a:r>
              <a:t>[TRANSACTION RISK]  Transaction Security First</a:t>
            </a:r>
          </a:p>
          <a:p>
            <a:pPr>
              <a:spcBef>
                <a:spcPts val="600"/>
              </a:spcBef>
              <a:defRPr sz="1100">
                <a:solidFill>
                  <a:srgbClr val="94A3B8"/>
                </a:solidFill>
              </a:defRPr>
            </a:pPr>
            <a:r>
              <a:t>• A marketplace is only as good as its settlement safety.</a:t>
            </a:r>
          </a:p>
          <a:p>
            <a:pPr>
              <a:spcBef>
                <a:spcPts val="600"/>
              </a:spcBef>
              <a:defRPr sz="1100">
                <a:solidFill>
                  <a:srgbClr val="94A3B8"/>
                </a:solidFill>
              </a:defRPr>
            </a:pPr>
            <a:r>
              <a:t>• Discovery and listing are easy; the hardest part of M&amp;A is the post-deal transfer.</a:t>
            </a:r>
          </a:p>
          <a:p>
            <a:pPr>
              <a:spcBef>
                <a:spcPts val="600"/>
              </a:spcBef>
              <a:defRPr sz="1100">
                <a:solidFill>
                  <a:srgbClr val="94A3B8"/>
                </a:solidFill>
              </a:defRPr>
            </a:pPr>
            <a:r>
              <a:t>• Designing the Atomic Handover Protocol proved that solving deal anxiety is the ultimate competitive moat.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2011680" cy="320040"/>
          </a:xfrm>
          <a:prstGeom prst="roundRect">
            <a:avLst/>
          </a:prstGeom>
          <a:solidFill>
            <a:srgbClr val="1E293B"/>
          </a:solidFill>
          <a:ln w="1270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8BDF8"/>
                </a:solidFill>
              </a:defRPr>
            </a:pPr>
            <a:r>
              <a:t>SUMMARY &amp; LIVE DELIVERABLES</a:t>
            </a:r>
          </a:p>
        </p:txBody>
      </p:sp>
      <p:sp>
        <p:nvSpPr>
          <p:cNvPr id="4" name="TextBox 3"/>
          <p:cNvSpPr txBox="1"/>
          <p:nvPr/>
        </p:nvSpPr>
        <p:spPr>
          <a:xfrm>
            <a:off x="731520" y="822960"/>
            <a:ext cx="10698480" cy="731520"/>
          </a:xfrm>
          <a:prstGeom prst="rect">
            <a:avLst/>
          </a:prstGeom>
          <a:noFill/>
        </p:spPr>
        <p:txBody>
          <a:bodyPr wrap="square">
            <a:spAutoFit/>
          </a:bodyPr>
          <a:lstStyle/>
          <a:p>
            <a:pPr>
              <a:defRPr sz="2400" b="1">
                <a:solidFill>
                  <a:srgbClr val="F8FAFC"/>
                </a:solidFill>
              </a:defRPr>
            </a:pPr>
            <a:r>
              <a:t>Platform Summary &amp; Verified Links</a:t>
            </a:r>
          </a:p>
          <a:p>
            <a:pPr>
              <a:defRPr sz="1200">
                <a:solidFill>
                  <a:srgbClr val="94A3B8"/>
                </a:solidFill>
              </a:defRPr>
            </a:pPr>
            <a:r>
              <a:t>Complete project deliverables ready for testing and presentation.</a:t>
            </a:r>
          </a:p>
        </p:txBody>
      </p:sp>
      <p:sp>
        <p:nvSpPr>
          <p:cNvPr id="5" name="Rounded Rectangle 4"/>
          <p:cNvSpPr/>
          <p:nvPr/>
        </p:nvSpPr>
        <p:spPr>
          <a:xfrm>
            <a:off x="731520" y="1828800"/>
            <a:ext cx="521208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4754880" cy="4023359"/>
          </a:xfrm>
          <a:prstGeom prst="rect">
            <a:avLst/>
          </a:prstGeom>
          <a:noFill/>
        </p:spPr>
        <p:txBody>
          <a:bodyPr wrap="square">
            <a:spAutoFit/>
          </a:bodyPr>
          <a:lstStyle/>
          <a:p>
            <a:pPr>
              <a:defRPr sz="1500" b="1">
                <a:solidFill>
                  <a:srgbClr val="34D399"/>
                </a:solidFill>
              </a:defRPr>
            </a:pPr>
            <a:r>
              <a:t>[STATUS: COMPLETE &amp; LIVE]  Project Deliverables</a:t>
            </a:r>
          </a:p>
          <a:p>
            <a:pPr>
              <a:spcBef>
                <a:spcPts val="600"/>
              </a:spcBef>
              <a:defRPr sz="1100">
                <a:solidFill>
                  <a:srgbClr val="94A3B8"/>
                </a:solidFill>
              </a:defRPr>
            </a:pPr>
            <a:r>
              <a:t>• Complete 8-view institutional Single Page Application.</a:t>
            </a:r>
          </a:p>
          <a:p>
            <a:pPr>
              <a:spcBef>
                <a:spcPts val="600"/>
              </a:spcBef>
              <a:defRPr sz="1100">
                <a:solidFill>
                  <a:srgbClr val="94A3B8"/>
                </a:solidFill>
              </a:defRPr>
            </a:pPr>
            <a:r>
              <a:t>• Live Atomic Handover Protocol simulator on every listing.</a:t>
            </a:r>
          </a:p>
          <a:p>
            <a:pPr>
              <a:spcBef>
                <a:spcPts val="600"/>
              </a:spcBef>
              <a:defRPr sz="1100">
                <a:solidFill>
                  <a:srgbClr val="94A3B8"/>
                </a:solidFill>
              </a:defRPr>
            </a:pPr>
            <a:r>
              <a:t>• Interactive 2×2 Strategic Matrix and Demand/Supply curves.</a:t>
            </a:r>
          </a:p>
          <a:p>
            <a:pPr>
              <a:spcBef>
                <a:spcPts val="600"/>
              </a:spcBef>
              <a:defRPr sz="1100">
                <a:solidFill>
                  <a:srgbClr val="94A3B8"/>
                </a:solidFill>
              </a:defRPr>
            </a:pPr>
            <a:r>
              <a:t>• Virtual Data Room (VDR) &amp; Video Review Terminal.</a:t>
            </a:r>
          </a:p>
          <a:p>
            <a:pPr>
              <a:spcBef>
                <a:spcPts val="600"/>
              </a:spcBef>
              <a:defRPr sz="1100">
                <a:solidFill>
                  <a:srgbClr val="94A3B8"/>
                </a:solidFill>
              </a:defRPr>
            </a:pPr>
            <a:r>
              <a:t>• Dynamic fee calculator proving 60%+ savings vs brokers.</a:t>
            </a:r>
          </a:p>
          <a:p>
            <a:pPr>
              <a:spcBef>
                <a:spcPts val="600"/>
              </a:spcBef>
              <a:defRPr sz="1100">
                <a:solidFill>
                  <a:srgbClr val="94A3B8"/>
                </a:solidFill>
              </a:defRPr>
            </a:pPr>
            <a:r>
              <a:t>• Fully tested: node -c syntax validation passed 100%.</a:t>
            </a:r>
          </a:p>
        </p:txBody>
      </p:sp>
      <p:sp>
        <p:nvSpPr>
          <p:cNvPr id="7" name="Rounded Rectangle 6"/>
          <p:cNvSpPr/>
          <p:nvPr/>
        </p:nvSpPr>
        <p:spPr>
          <a:xfrm>
            <a:off x="6217920" y="1828800"/>
            <a:ext cx="5212080" cy="4389120"/>
          </a:xfrm>
          <a:prstGeom prst="roundRect">
            <a:avLst/>
          </a:prstGeom>
          <a:solidFill>
            <a:srgbClr val="161E2E"/>
          </a:solidFill>
          <a:ln w="15240">
            <a:solidFill>
              <a:srgbClr val="2835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2011680"/>
            <a:ext cx="4754880" cy="4023359"/>
          </a:xfrm>
          <a:prstGeom prst="rect">
            <a:avLst/>
          </a:prstGeom>
          <a:noFill/>
        </p:spPr>
        <p:txBody>
          <a:bodyPr wrap="square">
            <a:spAutoFit/>
          </a:bodyPr>
          <a:lstStyle/>
          <a:p>
            <a:pPr>
              <a:defRPr sz="1500" b="1">
                <a:solidFill>
                  <a:srgbClr val="38BDF8"/>
                </a:solidFill>
              </a:defRPr>
            </a:pPr>
            <a:r>
              <a:t>[VERIFIED DEPLOYMENT]  Live Access &amp; Source Code</a:t>
            </a:r>
          </a:p>
          <a:p>
            <a:pPr>
              <a:spcBef>
                <a:spcPts val="600"/>
              </a:spcBef>
              <a:defRPr sz="1100">
                <a:solidFill>
                  <a:srgbClr val="94A3B8"/>
                </a:solidFill>
              </a:defRPr>
            </a:pPr>
            <a:r>
              <a:t>• Live Website URL: https://rohithagarwal.github.io/vventra/</a:t>
            </a:r>
          </a:p>
          <a:p>
            <a:pPr>
              <a:spcBef>
                <a:spcPts val="600"/>
              </a:spcBef>
              <a:defRPr sz="1100">
                <a:solidFill>
                  <a:srgbClr val="94A3B8"/>
                </a:solidFill>
              </a:defRPr>
            </a:pPr>
            <a:r>
              <a:t>• GitHub Repository: https://github.com/rohithagarwal/vventra</a:t>
            </a:r>
          </a:p>
          <a:p>
            <a:pPr>
              <a:spcBef>
                <a:spcPts val="600"/>
              </a:spcBef>
              <a:defRPr sz="1100">
                <a:solidFill>
                  <a:srgbClr val="94A3B8"/>
                </a:solidFill>
              </a:defRPr>
            </a:pPr>
            <a:r>
              <a:t>• Branch: main (Clean working tree, up to date with origin)</a:t>
            </a:r>
          </a:p>
          <a:p>
            <a:pPr>
              <a:spcBef>
                <a:spcPts val="600"/>
              </a:spcBef>
              <a:defRPr sz="1100">
                <a:solidFill>
                  <a:srgbClr val="94A3B8"/>
                </a:solidFill>
              </a:defRPr>
            </a:pPr>
            <a:r>
              <a:t>• Zero hosting costs, served globally via GitHub CDN.</a:t>
            </a:r>
          </a:p>
          <a:p>
            <a:pPr>
              <a:spcBef>
                <a:spcPts val="600"/>
              </a:spcBef>
              <a:defRPr sz="1100">
                <a:solidFill>
                  <a:srgbClr val="94A3B8"/>
                </a:solidFill>
              </a:defRPr>
            </a:pPr>
            <a:r>
              <a:t>• Easily editable locally with automatic deployment on git push.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