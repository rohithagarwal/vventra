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Today I'm presenting vvEntra. In simple terms, vvEntra is an online marketplace where people can buy and sell software businesses safely. I rebuilt the website using simple, clean code with zero extra libraries, made it load fast, and added a safe 4-step handover system so neither buyers nor sellers get scammed.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1: What is the core idea? Think of it like a trusted real estate agent, but for apps and software instead of houses. It solves three simple problems: high broker fees, fake earnings screenshots, and the fear of getting scammed. Buyers get real, verified numbers and safe escrow. Sellers save tens of thousands in fees and protect their code. And for our platform, we make a clear 3% to 7% fee on every successful sale.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2: Here are the main features of the website. First, a top switch that flips between Buyer and Seller mode. Second, a dashboard with a 4-box grid where users can click to filter companies, and charts showing market demand. Third, a calculator that tells founders what their software is worth. Fourth, a clean marketplace to search apps. And fifth, a private data room to view sensitive business records safely.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3: For our tech stack, we kept it 100% simple: pure HTML, CSS, and Vanilla JavaScript with zero extra libraries. Why is this helpful for adding AI agents? Because all data is stored in one clean file (data.js), and the web code is completely clean without complex React layers. AI agents can easily connect to it: an AI can scan GitHub code, an AI can automatically update prices, and an AI assistant can answer buyers' questions inside the private data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4: What is our main innovation compared to the original site? The original site had flashy neon colors, but the buttons and charts didn't do much, and there was no way to safely transfer apps. We built the Safe 4-Step Handover system: money is locked in escrow, code is secured, the domain is moved, and the buyer confirms everything works before the money is released. We also added a live simulator on every listing so users can click through and see the safety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5: To wrap up, our three biggest learnings: First, simple code is faster and easier to maintain than heavy frameworks. Second, clean numbers and honest data build much more trust than flashy animations. And third, solving the safety problem of handing over code is what gives this platform real value. The website is live and ready to view.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371600"/>
            <a:ext cx="10728655" cy="41148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10058400" cy="3291840"/>
          </a:xfrm>
          <a:prstGeom prst="rect">
            <a:avLst/>
          </a:prstGeom>
          <a:noFill/>
        </p:spPr>
        <p:txBody>
          <a:bodyPr wrap="square">
            <a:spAutoFit/>
          </a:bodyPr>
          <a:lstStyle/>
          <a:p>
            <a:pPr>
              <a:defRPr sz="4000" b="1">
                <a:solidFill>
                  <a:srgbClr val="FFFFFF"/>
                </a:solidFill>
              </a:defRPr>
            </a:pPr>
            <a:r>
              <a:t>vvEntra</a:t>
            </a:r>
          </a:p>
          <a:p>
            <a:pPr>
              <a:spcBef>
                <a:spcPts val="600"/>
              </a:spcBef>
              <a:defRPr sz="1800">
                <a:solidFill>
                  <a:srgbClr val="38BDF8"/>
                </a:solidFill>
              </a:defRPr>
            </a:pPr>
            <a:r>
              <a:t>A Safe Marketplace to Buy &amp; Sell Software Businesses</a:t>
            </a:r>
          </a:p>
          <a:p>
            <a:pPr>
              <a:spcBef>
                <a:spcPts val="1400"/>
              </a:spcBef>
              <a:defRPr sz="1300">
                <a:solidFill>
                  <a:srgbClr val="CBD5E1"/>
                </a:solidFill>
              </a:defRPr>
            </a:pPr>
            <a:r>
              <a:t>A simple, fast website where developers and investors trade apps and software safely without getting scammed.</a:t>
            </a:r>
          </a:p>
          <a:p>
            <a:pPr>
              <a:spcBef>
                <a:spcPts val="2400"/>
              </a:spcBef>
              <a:defRPr sz="1100">
                <a:solidFill>
                  <a:srgbClr val="4ADE80"/>
                </a:solidFill>
              </a:defRPr>
            </a:pPr>
            <a:r>
              <a:t>Live Website: https://rohithagarwal.github.io/vventra/  |  Repository: github.com/rohithagarwal/vventra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defRPr>
            </a:pPr>
            <a:r>
              <a:t>1. CORE IDEA</a:t>
            </a:r>
          </a:p>
        </p:txBody>
      </p:sp>
      <p:sp>
        <p:nvSpPr>
          <p:cNvPr id="4" name="TextBox 3"/>
          <p:cNvSpPr txBox="1"/>
          <p:nvPr/>
        </p:nvSpPr>
        <p:spPr>
          <a:xfrm>
            <a:off x="731520" y="822960"/>
            <a:ext cx="10698480" cy="731520"/>
          </a:xfrm>
          <a:prstGeom prst="rect">
            <a:avLst/>
          </a:prstGeom>
          <a:noFill/>
        </p:spPr>
        <p:txBody>
          <a:bodyPr wrap="square">
            <a:spAutoFit/>
          </a:bodyPr>
          <a:lstStyle/>
          <a:p>
            <a:pPr>
              <a:defRPr sz="2200" b="1">
                <a:solidFill>
                  <a:srgbClr val="FFFFFF"/>
                </a:solidFill>
              </a:defRPr>
            </a:pPr>
            <a:r>
              <a:t>What is vvEntra, What It Solves &amp; Why It Helps</a:t>
            </a:r>
          </a:p>
          <a:p>
            <a:pPr>
              <a:defRPr sz="1100">
                <a:solidFill>
                  <a:srgbClr val="CBD5E1"/>
                </a:solidFill>
              </a:defRPr>
            </a:pPr>
            <a:r>
              <a:t>A simple explanation of the business and who it helps.</a:t>
            </a:r>
          </a:p>
        </p:txBody>
      </p:sp>
      <p:sp>
        <p:nvSpPr>
          <p:cNvPr id="5" name="Rounded Rectangle 4"/>
          <p:cNvSpPr/>
          <p:nvPr/>
        </p:nvSpPr>
        <p:spPr>
          <a:xfrm>
            <a:off x="731520"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2834640" cy="4206240"/>
          </a:xfrm>
          <a:prstGeom prst="rect">
            <a:avLst/>
          </a:prstGeom>
          <a:noFill/>
        </p:spPr>
        <p:txBody>
          <a:bodyPr wrap="square">
            <a:spAutoFit/>
          </a:bodyPr>
          <a:lstStyle/>
          <a:p>
            <a:pPr>
              <a:defRPr sz="1400" b="1">
                <a:solidFill>
                  <a:srgbClr val="FBBF24"/>
                </a:solidFill>
              </a:defRPr>
            </a:pPr>
            <a:r>
              <a:t>[THE PROBLEM]  The Problem It Solves</a:t>
            </a:r>
          </a:p>
          <a:p>
            <a:pPr>
              <a:spcBef>
                <a:spcPts val="600"/>
              </a:spcBef>
              <a:defRPr sz="1100">
                <a:solidFill>
                  <a:srgbClr val="CBD5E1"/>
                </a:solidFill>
              </a:defRPr>
            </a:pPr>
            <a:r>
              <a:t>• Expensive Middlemen: Traditional brokers charge huge fees (10% to 15%) and take 6 to 12 months.</a:t>
            </a:r>
          </a:p>
          <a:p>
            <a:pPr>
              <a:spcBef>
                <a:spcPts val="600"/>
              </a:spcBef>
              <a:defRPr sz="1100">
                <a:solidFill>
                  <a:srgbClr val="CBD5E1"/>
                </a:solidFill>
              </a:defRPr>
            </a:pPr>
            <a:r>
              <a:t>• Fake Numbers: Public websites are full of fake revenue screenshots and stolen code.</a:t>
            </a:r>
          </a:p>
          <a:p>
            <a:pPr>
              <a:spcBef>
                <a:spcPts val="600"/>
              </a:spcBef>
              <a:defRPr sz="1100">
                <a:solidFill>
                  <a:srgbClr val="CBD5E1"/>
                </a:solidFill>
              </a:defRPr>
            </a:pPr>
            <a:r>
              <a:t>• Fear of Getting Cheated: Buyers are afraid to pay first and get ghosted. Sellers are afraid to give away code without getting paid.</a:t>
            </a:r>
          </a:p>
        </p:txBody>
      </p:sp>
      <p:sp>
        <p:nvSpPr>
          <p:cNvPr id="7" name="Rounded Rectangle 6"/>
          <p:cNvSpPr/>
          <p:nvPr/>
        </p:nvSpPr>
        <p:spPr>
          <a:xfrm>
            <a:off x="4443984"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1920240"/>
            <a:ext cx="2834640" cy="4206240"/>
          </a:xfrm>
          <a:prstGeom prst="rect">
            <a:avLst/>
          </a:prstGeom>
          <a:noFill/>
        </p:spPr>
        <p:txBody>
          <a:bodyPr wrap="square">
            <a:spAutoFit/>
          </a:bodyPr>
          <a:lstStyle/>
          <a:p>
            <a:pPr>
              <a:defRPr sz="1400" b="1">
                <a:solidFill>
                  <a:srgbClr val="4ADE80"/>
                </a:solidFill>
              </a:defRPr>
            </a:pPr>
            <a:r>
              <a:t>[FOR USERS]  Benefits for the User</a:t>
            </a:r>
          </a:p>
          <a:p>
            <a:pPr>
              <a:spcBef>
                <a:spcPts val="600"/>
              </a:spcBef>
              <a:defRPr sz="1100">
                <a:solidFill>
                  <a:srgbClr val="CBD5E1"/>
                </a:solidFill>
              </a:defRPr>
            </a:pPr>
            <a:r>
              <a:t>• For Buyers: Real earnings checked with Stripe (no fake screenshots); code is checked for bugs; money stays safe in escrow.</a:t>
            </a:r>
          </a:p>
          <a:p>
            <a:pPr>
              <a:spcBef>
                <a:spcPts val="600"/>
              </a:spcBef>
              <a:defRPr sz="1100">
                <a:solidFill>
                  <a:srgbClr val="CBD5E1"/>
                </a:solidFill>
              </a:defRPr>
            </a:pPr>
            <a:r>
              <a:t>• For Sellers: Much lower fees (3% to 7% instead of 15%, saving $50k+); code is never handed over until the buyer's money is locked.</a:t>
            </a:r>
          </a:p>
          <a:p>
            <a:pPr>
              <a:spcBef>
                <a:spcPts val="600"/>
              </a:spcBef>
              <a:defRPr sz="1100">
                <a:solidFill>
                  <a:srgbClr val="CBD5E1"/>
                </a:solidFill>
              </a:defRPr>
            </a:pPr>
            <a:r>
              <a:t>• Fast Deals: Deals close in about 18 days instead of almost a year.</a:t>
            </a:r>
          </a:p>
        </p:txBody>
      </p:sp>
      <p:sp>
        <p:nvSpPr>
          <p:cNvPr id="9" name="Rounded Rectangle 8"/>
          <p:cNvSpPr/>
          <p:nvPr/>
        </p:nvSpPr>
        <p:spPr>
          <a:xfrm>
            <a:off x="8165592"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1920240"/>
            <a:ext cx="2834640" cy="4206240"/>
          </a:xfrm>
          <a:prstGeom prst="rect">
            <a:avLst/>
          </a:prstGeom>
          <a:noFill/>
        </p:spPr>
        <p:txBody>
          <a:bodyPr wrap="square">
            <a:spAutoFit/>
          </a:bodyPr>
          <a:lstStyle/>
          <a:p>
            <a:pPr>
              <a:defRPr sz="1400" b="1">
                <a:solidFill>
                  <a:srgbClr val="38BDF8"/>
                </a:solidFill>
              </a:defRPr>
            </a:pPr>
            <a:r>
              <a:t>[FOR OUR PLATFORM]  Benefits for Us (Our Business)</a:t>
            </a:r>
          </a:p>
          <a:p>
            <a:pPr>
              <a:spcBef>
                <a:spcPts val="600"/>
              </a:spcBef>
              <a:defRPr sz="1100">
                <a:solidFill>
                  <a:srgbClr val="CBD5E1"/>
                </a:solidFill>
              </a:defRPr>
            </a:pPr>
            <a:r>
              <a:t>• Simple Business Model: We take a small 3% to 7% fee on every sale (e.g. $30,000 profit on a $500,000 deal).</a:t>
            </a:r>
          </a:p>
          <a:p>
            <a:pPr>
              <a:spcBef>
                <a:spcPts val="600"/>
              </a:spcBef>
              <a:defRPr sz="1100">
                <a:solidFill>
                  <a:srgbClr val="CBD5E1"/>
                </a:solidFill>
              </a:defRPr>
            </a:pPr>
            <a:r>
              <a:t>• Extra Services: Revenue from code audits, escrow fees, and private deal room access.</a:t>
            </a:r>
          </a:p>
          <a:p>
            <a:pPr>
              <a:spcBef>
                <a:spcPts val="600"/>
              </a:spcBef>
              <a:defRPr sz="1100">
                <a:solidFill>
                  <a:srgbClr val="CBD5E1"/>
                </a:solidFill>
              </a:defRPr>
            </a:pPr>
            <a:r>
              <a:t>• Valuable Market Data: We build a real database of how much software companies actually sell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defRPr>
            </a:pPr>
            <a:r>
              <a:t>2. MAIN FEATURES</a:t>
            </a:r>
          </a:p>
        </p:txBody>
      </p:sp>
      <p:sp>
        <p:nvSpPr>
          <p:cNvPr id="4" name="TextBox 3"/>
          <p:cNvSpPr txBox="1"/>
          <p:nvPr/>
        </p:nvSpPr>
        <p:spPr>
          <a:xfrm>
            <a:off x="731520" y="822960"/>
            <a:ext cx="10698480" cy="731520"/>
          </a:xfrm>
          <a:prstGeom prst="rect">
            <a:avLst/>
          </a:prstGeom>
          <a:noFill/>
        </p:spPr>
        <p:txBody>
          <a:bodyPr wrap="square">
            <a:spAutoFit/>
          </a:bodyPr>
          <a:lstStyle/>
          <a:p>
            <a:pPr>
              <a:defRPr sz="2200" b="1">
                <a:solidFill>
                  <a:srgbClr val="FFFFFF"/>
                </a:solidFill>
              </a:defRPr>
            </a:pPr>
            <a:r>
              <a:t>Each Major Functionality of the Website</a:t>
            </a:r>
          </a:p>
          <a:p>
            <a:pPr>
              <a:defRPr sz="1100">
                <a:solidFill>
                  <a:srgbClr val="CBD5E1"/>
                </a:solidFill>
              </a:defRPr>
            </a:pPr>
            <a:r>
              <a:t>What users can actually do on the website.</a:t>
            </a:r>
          </a:p>
        </p:txBody>
      </p:sp>
      <p:sp>
        <p:nvSpPr>
          <p:cNvPr id="5" name="Rounded Rectangle 4"/>
          <p:cNvSpPr/>
          <p:nvPr/>
        </p:nvSpPr>
        <p:spPr>
          <a:xfrm>
            <a:off x="731520"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2834640" cy="4206240"/>
          </a:xfrm>
          <a:prstGeom prst="rect">
            <a:avLst/>
          </a:prstGeom>
          <a:noFill/>
        </p:spPr>
        <p:txBody>
          <a:bodyPr wrap="square">
            <a:spAutoFit/>
          </a:bodyPr>
          <a:lstStyle/>
          <a:p>
            <a:pPr>
              <a:defRPr sz="1400" b="1">
                <a:solidFill>
                  <a:srgbClr val="38BDF8"/>
                </a:solidFill>
              </a:defRPr>
            </a:pPr>
            <a:r>
              <a:t>[DASHBOARD]  Market Tools &amp; Dashboard</a:t>
            </a:r>
          </a:p>
          <a:p>
            <a:pPr>
              <a:spcBef>
                <a:spcPts val="600"/>
              </a:spcBef>
              <a:defRPr sz="1100">
                <a:solidFill>
                  <a:srgbClr val="CBD5E1"/>
                </a:solidFill>
              </a:defRPr>
            </a:pPr>
            <a:r>
              <a:t>• Buyer / Seller Switch: One click changes the view to show what buyers care about (returns) or what sellers care about (how much their app is worth).</a:t>
            </a:r>
          </a:p>
          <a:p>
            <a:pPr>
              <a:spcBef>
                <a:spcPts val="600"/>
              </a:spcBef>
              <a:defRPr sz="1100">
                <a:solidFill>
                  <a:srgbClr val="CBD5E1"/>
                </a:solidFill>
              </a:defRPr>
            </a:pPr>
            <a:r>
              <a:t>• 4-Box Market Grid: Groups apps into 4 simple buckets (Big apps, Fast growers, Niche tools, Basic utilities). Clicking any box filters the apps.</a:t>
            </a:r>
          </a:p>
          <a:p>
            <a:pPr>
              <a:spcBef>
                <a:spcPts val="600"/>
              </a:spcBef>
              <a:defRPr sz="1100">
                <a:solidFill>
                  <a:srgbClr val="CBD5E1"/>
                </a:solidFill>
              </a:defRPr>
            </a:pPr>
            <a:r>
              <a:t>• Supply &amp; Demand Graph: Shows which software categories have the most buyers waiting.</a:t>
            </a:r>
          </a:p>
        </p:txBody>
      </p:sp>
      <p:sp>
        <p:nvSpPr>
          <p:cNvPr id="7" name="Rounded Rectangle 6"/>
          <p:cNvSpPr/>
          <p:nvPr/>
        </p:nvSpPr>
        <p:spPr>
          <a:xfrm>
            <a:off x="4443984"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1920240"/>
            <a:ext cx="2834640" cy="4206240"/>
          </a:xfrm>
          <a:prstGeom prst="rect">
            <a:avLst/>
          </a:prstGeom>
          <a:noFill/>
        </p:spPr>
        <p:txBody>
          <a:bodyPr wrap="square">
            <a:spAutoFit/>
          </a:bodyPr>
          <a:lstStyle/>
          <a:p>
            <a:pPr>
              <a:defRPr sz="1400" b="1">
                <a:solidFill>
                  <a:srgbClr val="4ADE80"/>
                </a:solidFill>
              </a:defRPr>
            </a:pPr>
            <a:r>
              <a:t>[BUY &amp; SELL]  Valuation &amp; Marketplace</a:t>
            </a:r>
          </a:p>
          <a:p>
            <a:pPr>
              <a:spcBef>
                <a:spcPts val="600"/>
              </a:spcBef>
              <a:defRPr sz="1100">
                <a:solidFill>
                  <a:srgbClr val="CBD5E1"/>
                </a:solidFill>
              </a:defRPr>
            </a:pPr>
            <a:r>
              <a:t>• Price Calculator: A tool for sellers. You type in your revenue, and it instantly tells you what your app is worth and your chances of selling.</a:t>
            </a:r>
          </a:p>
          <a:p>
            <a:pPr>
              <a:spcBef>
                <a:spcPts val="600"/>
              </a:spcBef>
              <a:defRPr sz="1100">
                <a:solidFill>
                  <a:srgbClr val="CBD5E1"/>
                </a:solidFill>
              </a:defRPr>
            </a:pPr>
            <a:r>
              <a:t>• Browse Marketplace: Search and filter apps by category (AI, Finance, Health) with real monthly earnings, profit, and programming languages shown clearly.</a:t>
            </a:r>
          </a:p>
        </p:txBody>
      </p:sp>
      <p:sp>
        <p:nvSpPr>
          <p:cNvPr id="9" name="Rounded Rectangle 8"/>
          <p:cNvSpPr/>
          <p:nvPr/>
        </p:nvSpPr>
        <p:spPr>
          <a:xfrm>
            <a:off x="8165592"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1920240"/>
            <a:ext cx="2834640" cy="4206240"/>
          </a:xfrm>
          <a:prstGeom prst="rect">
            <a:avLst/>
          </a:prstGeom>
          <a:noFill/>
        </p:spPr>
        <p:txBody>
          <a:bodyPr wrap="square">
            <a:spAutoFit/>
          </a:bodyPr>
          <a:lstStyle/>
          <a:p>
            <a:pPr>
              <a:defRPr sz="1400" b="1">
                <a:solidFill>
                  <a:srgbClr val="FBBF24"/>
                </a:solidFill>
              </a:defRPr>
            </a:pPr>
            <a:r>
              <a:t>[DEAL ROOM]  Private Room &amp; Calculator</a:t>
            </a:r>
          </a:p>
          <a:p>
            <a:pPr>
              <a:spcBef>
                <a:spcPts val="600"/>
              </a:spcBef>
              <a:defRPr sz="1100">
                <a:solidFill>
                  <a:srgbClr val="CBD5E1"/>
                </a:solidFill>
              </a:defRPr>
            </a:pPr>
            <a:r>
              <a:t>• Private Diligence Room: A locked room where buyers can view private tax files and code stats after signing an agreement.</a:t>
            </a:r>
          </a:p>
          <a:p>
            <a:pPr>
              <a:spcBef>
                <a:spcPts val="600"/>
              </a:spcBef>
              <a:defRPr sz="1100">
                <a:solidFill>
                  <a:srgbClr val="CBD5E1"/>
                </a:solidFill>
              </a:defRPr>
            </a:pPr>
            <a:r>
              <a:t>• Code Walkthrough Video: A video screen where the creator explains how the code works.</a:t>
            </a:r>
          </a:p>
          <a:p>
            <a:pPr>
              <a:spcBef>
                <a:spcPts val="600"/>
              </a:spcBef>
              <a:defRPr sz="1100">
                <a:solidFill>
                  <a:srgbClr val="CBD5E1"/>
                </a:solidFill>
              </a:defRPr>
            </a:pPr>
            <a:r>
              <a:t>• Fee Calculator: A slider showing exactly how many thousands of dollars you save compared to traditional brokers.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defRPr>
            </a:pPr>
            <a:r>
              <a:t>3. TECHNOLOGY</a:t>
            </a:r>
          </a:p>
        </p:txBody>
      </p:sp>
      <p:sp>
        <p:nvSpPr>
          <p:cNvPr id="4" name="TextBox 3"/>
          <p:cNvSpPr txBox="1"/>
          <p:nvPr/>
        </p:nvSpPr>
        <p:spPr>
          <a:xfrm>
            <a:off x="731520" y="822960"/>
            <a:ext cx="10698480" cy="731520"/>
          </a:xfrm>
          <a:prstGeom prst="rect">
            <a:avLst/>
          </a:prstGeom>
          <a:noFill/>
        </p:spPr>
        <p:txBody>
          <a:bodyPr wrap="square">
            <a:spAutoFit/>
          </a:bodyPr>
          <a:lstStyle/>
          <a:p>
            <a:pPr>
              <a:defRPr sz="2200" b="1">
                <a:solidFill>
                  <a:srgbClr val="FFFFFF"/>
                </a:solidFill>
              </a:defRPr>
            </a:pPr>
            <a:r>
              <a:t>The Tech Stack &amp; How AI Agents Can Be Added</a:t>
            </a:r>
          </a:p>
          <a:p>
            <a:pPr>
              <a:defRPr sz="1100">
                <a:solidFill>
                  <a:srgbClr val="CBD5E1"/>
                </a:solidFill>
              </a:defRPr>
            </a:pPr>
            <a:r>
              <a:t>Simple code that makes the site fast and easy for AI to work with.</a:t>
            </a:r>
          </a:p>
        </p:txBody>
      </p:sp>
      <p:sp>
        <p:nvSpPr>
          <p:cNvPr id="5" name="Rounded Rectangle 4"/>
          <p:cNvSpPr/>
          <p:nvPr/>
        </p:nvSpPr>
        <p:spPr>
          <a:xfrm>
            <a:off x="731520" y="1737360"/>
            <a:ext cx="521208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754880" cy="4206240"/>
          </a:xfrm>
          <a:prstGeom prst="rect">
            <a:avLst/>
          </a:prstGeom>
          <a:noFill/>
        </p:spPr>
        <p:txBody>
          <a:bodyPr wrap="square">
            <a:spAutoFit/>
          </a:bodyPr>
          <a:lstStyle/>
          <a:p>
            <a:pPr>
              <a:defRPr sz="1400" b="1">
                <a:solidFill>
                  <a:srgbClr val="38BDF8"/>
                </a:solidFill>
              </a:defRPr>
            </a:pPr>
            <a:r>
              <a:t>[SIMPLE TECH STACK]  The Tech Stack Used</a:t>
            </a:r>
          </a:p>
          <a:p>
            <a:pPr>
              <a:spcBef>
                <a:spcPts val="600"/>
              </a:spcBef>
              <a:defRPr sz="1100">
                <a:solidFill>
                  <a:srgbClr val="CBD5E1"/>
                </a:solidFill>
              </a:defRPr>
            </a:pPr>
            <a:r>
              <a:t>• Pure HTML5 &amp; CSS3: Clean layout and styling using modern CSS variables. No heavy frameworks like Tailwind or Bootstrap.</a:t>
            </a:r>
          </a:p>
          <a:p>
            <a:pPr>
              <a:spcBef>
                <a:spcPts val="600"/>
              </a:spcBef>
              <a:defRPr sz="1100">
                <a:solidFill>
                  <a:srgbClr val="CBD5E1"/>
                </a:solidFill>
              </a:defRPr>
            </a:pPr>
            <a:r>
              <a:t>• Vanilla JavaScript: Pure code for page navigation, search, and charts. Zero npm packages, zero React, and zero build steps.</a:t>
            </a:r>
          </a:p>
          <a:p>
            <a:pPr>
              <a:spcBef>
                <a:spcPts val="600"/>
              </a:spcBef>
              <a:defRPr sz="1100">
                <a:solidFill>
                  <a:srgbClr val="CBD5E1"/>
                </a:solidFill>
              </a:defRPr>
            </a:pPr>
            <a:r>
              <a:t>• GitHub Pages Hosting: Free global hosting directly from GitHub. Fast loading in under 120ms with zero server crashes.</a:t>
            </a:r>
          </a:p>
        </p:txBody>
      </p:sp>
      <p:sp>
        <p:nvSpPr>
          <p:cNvPr id="7" name="Rounded Rectangle 6"/>
          <p:cNvSpPr/>
          <p:nvPr/>
        </p:nvSpPr>
        <p:spPr>
          <a:xfrm>
            <a:off x="6217920" y="1737360"/>
            <a:ext cx="521208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920240"/>
            <a:ext cx="4754880" cy="4206240"/>
          </a:xfrm>
          <a:prstGeom prst="rect">
            <a:avLst/>
          </a:prstGeom>
          <a:noFill/>
        </p:spPr>
        <p:txBody>
          <a:bodyPr wrap="square">
            <a:spAutoFit/>
          </a:bodyPr>
          <a:lstStyle/>
          <a:p>
            <a:pPr>
              <a:defRPr sz="1400" b="1">
                <a:solidFill>
                  <a:srgbClr val="4ADE80"/>
                </a:solidFill>
              </a:defRPr>
            </a:pPr>
            <a:r>
              <a:t>[ADDING AI AGENTS]  How It Helps Us Add AI Agents</a:t>
            </a:r>
          </a:p>
          <a:p>
            <a:pPr>
              <a:spcBef>
                <a:spcPts val="600"/>
              </a:spcBef>
              <a:defRPr sz="1100">
                <a:solidFill>
                  <a:srgbClr val="CBD5E1"/>
                </a:solidFill>
              </a:defRPr>
            </a:pPr>
            <a:r>
              <a:t>• Single Data File (data.js): All listings and numbers live in one clean file. AI agents can easily read and add new listings without breaking UI code.</a:t>
            </a:r>
          </a:p>
          <a:p>
            <a:pPr>
              <a:spcBef>
                <a:spcPts val="600"/>
              </a:spcBef>
              <a:defRPr sz="1100">
                <a:solidFill>
                  <a:srgbClr val="CBD5E1"/>
                </a:solidFill>
              </a:defRPr>
            </a:pPr>
            <a:r>
              <a:t>• No Hidden React Code: Because the HTML is clean and direct, AI browser tools can easily click buttons, search listings, and read text.</a:t>
            </a:r>
          </a:p>
          <a:p>
            <a:pPr>
              <a:spcBef>
                <a:spcPts val="600"/>
              </a:spcBef>
              <a:defRPr sz="1100">
                <a:solidFill>
                  <a:srgbClr val="CBD5E1"/>
                </a:solidFill>
              </a:defRPr>
            </a:pPr>
            <a:r>
              <a:t>• AI Agents We Can Add Easily:</a:t>
            </a:r>
          </a:p>
          <a:p>
            <a:pPr>
              <a:spcBef>
                <a:spcPts val="600"/>
              </a:spcBef>
              <a:defRPr sz="1100">
                <a:solidFill>
                  <a:srgbClr val="CBD5E1"/>
                </a:solidFill>
              </a:defRPr>
            </a:pPr>
            <a:r>
              <a:t>•   1. Code Audit AI: Automatically scans GitHub repos and gives a code safety score.</a:t>
            </a:r>
          </a:p>
          <a:p>
            <a:pPr>
              <a:spcBef>
                <a:spcPts val="600"/>
              </a:spcBef>
              <a:defRPr sz="1100">
                <a:solidFill>
                  <a:srgbClr val="CBD5E1"/>
                </a:solidFill>
              </a:defRPr>
            </a:pPr>
            <a:r>
              <a:t>•   2. Price AI: Checks recent sales and updates valuations automatically.</a:t>
            </a:r>
          </a:p>
          <a:p>
            <a:pPr>
              <a:spcBef>
                <a:spcPts val="600"/>
              </a:spcBef>
              <a:defRPr sz="1100">
                <a:solidFill>
                  <a:srgbClr val="CBD5E1"/>
                </a:solidFill>
              </a:defRPr>
            </a:pPr>
            <a:r>
              <a:t>•   3. Q&amp;A AI Chatbot: Sits inside the private deal room to answer buyers' questions about the software.</a:t>
            </a:r>
          </a:p>
          <a:p>
            <a:pPr>
              <a:spcBef>
                <a:spcPts val="600"/>
              </a:spcBef>
              <a:defRPr sz="1100">
                <a:solidFill>
                  <a:srgbClr val="CBD5E1"/>
                </a:solidFill>
              </a:defRPr>
            </a:pPr>
            <a:r>
              <a:t>•   4. Handover AI: Checks that domains and passwords are moved correctly before money is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defRPr>
            </a:pPr>
            <a:r>
              <a:t>4. INNOVATION</a:t>
            </a:r>
          </a:p>
        </p:txBody>
      </p:sp>
      <p:sp>
        <p:nvSpPr>
          <p:cNvPr id="4" name="TextBox 3"/>
          <p:cNvSpPr txBox="1"/>
          <p:nvPr/>
        </p:nvSpPr>
        <p:spPr>
          <a:xfrm>
            <a:off x="731520" y="822960"/>
            <a:ext cx="10698480" cy="731520"/>
          </a:xfrm>
          <a:prstGeom prst="rect">
            <a:avLst/>
          </a:prstGeom>
          <a:noFill/>
        </p:spPr>
        <p:txBody>
          <a:bodyPr wrap="square">
            <a:spAutoFit/>
          </a:bodyPr>
          <a:lstStyle/>
          <a:p>
            <a:pPr>
              <a:defRPr sz="2200" b="1">
                <a:solidFill>
                  <a:srgbClr val="FFFFFF"/>
                </a:solidFill>
              </a:defRPr>
            </a:pPr>
            <a:r>
              <a:t>Innovation Added (Compared to Original Website)</a:t>
            </a:r>
          </a:p>
          <a:p>
            <a:pPr>
              <a:defRPr sz="1100">
                <a:solidFill>
                  <a:srgbClr val="CBD5E1"/>
                </a:solidFill>
              </a:defRPr>
            </a:pPr>
            <a:r>
              <a:t>How our site is safer and more functional than the reference site.</a:t>
            </a:r>
          </a:p>
        </p:txBody>
      </p:sp>
      <p:sp>
        <p:nvSpPr>
          <p:cNvPr id="5" name="Rounded Rectangle 4"/>
          <p:cNvSpPr/>
          <p:nvPr/>
        </p:nvSpPr>
        <p:spPr>
          <a:xfrm>
            <a:off x="731520" y="1737360"/>
            <a:ext cx="521208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754880" cy="4206240"/>
          </a:xfrm>
          <a:prstGeom prst="rect">
            <a:avLst/>
          </a:prstGeom>
          <a:noFill/>
        </p:spPr>
        <p:txBody>
          <a:bodyPr wrap="square">
            <a:spAutoFit/>
          </a:bodyPr>
          <a:lstStyle/>
          <a:p>
            <a:pPr>
              <a:defRPr sz="1400" b="1">
                <a:solidFill>
                  <a:srgbClr val="FBBF24"/>
                </a:solidFill>
              </a:defRPr>
            </a:pPr>
            <a:r>
              <a:t>[ORIGINAL SITE]  The Original Website (vventrabyaj)</a:t>
            </a:r>
          </a:p>
          <a:p>
            <a:pPr>
              <a:spcBef>
                <a:spcPts val="600"/>
              </a:spcBef>
              <a:defRPr sz="1100">
                <a:solidFill>
                  <a:srgbClr val="CBD5E1"/>
                </a:solidFill>
              </a:defRPr>
            </a:pPr>
            <a:r>
              <a:t>• Flashy Graphics Over Substance: Used heavy neon purple colors and glows that looked like a video game or crypto token.</a:t>
            </a:r>
          </a:p>
          <a:p>
            <a:pPr>
              <a:spcBef>
                <a:spcPts val="600"/>
              </a:spcBef>
              <a:defRPr sz="1100">
                <a:solidFill>
                  <a:srgbClr val="CBD5E1"/>
                </a:solidFill>
              </a:defRPr>
            </a:pPr>
            <a:r>
              <a:t>• Buttons Did Not Work: Many cards and charts were just pictures that you could not click or interact with.</a:t>
            </a:r>
          </a:p>
          <a:p>
            <a:pPr>
              <a:spcBef>
                <a:spcPts val="600"/>
              </a:spcBef>
              <a:defRPr sz="1100">
                <a:solidFill>
                  <a:srgbClr val="CBD5E1"/>
                </a:solidFill>
              </a:defRPr>
            </a:pPr>
            <a:r>
              <a:t>• No Safe Transfer Method: Only had a basic 'Buy' button, with no answer to how code or money is actually protected.</a:t>
            </a:r>
          </a:p>
        </p:txBody>
      </p:sp>
      <p:sp>
        <p:nvSpPr>
          <p:cNvPr id="7" name="Rounded Rectangle 6"/>
          <p:cNvSpPr/>
          <p:nvPr/>
        </p:nvSpPr>
        <p:spPr>
          <a:xfrm>
            <a:off x="6217920" y="1737360"/>
            <a:ext cx="521208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920240"/>
            <a:ext cx="4754880" cy="4206240"/>
          </a:xfrm>
          <a:prstGeom prst="rect">
            <a:avLst/>
          </a:prstGeom>
          <a:noFill/>
        </p:spPr>
        <p:txBody>
          <a:bodyPr wrap="square">
            <a:spAutoFit/>
          </a:bodyPr>
          <a:lstStyle/>
          <a:p>
            <a:pPr>
              <a:defRPr sz="1400" b="1">
                <a:solidFill>
                  <a:srgbClr val="4ADE80"/>
                </a:solidFill>
              </a:defRPr>
            </a:pPr>
            <a:r>
              <a:t>[OUR INNOVATION]  Our Innovation: Safe 4-Step Handover</a:t>
            </a:r>
          </a:p>
          <a:p>
            <a:pPr>
              <a:spcBef>
                <a:spcPts val="600"/>
              </a:spcBef>
              <a:defRPr sz="1100">
                <a:solidFill>
                  <a:srgbClr val="CBD5E1"/>
                </a:solidFill>
              </a:defRPr>
            </a:pPr>
            <a:r>
              <a:t>• The Safe Handover System: Solves the biggest fear in buying software using 4 clear steps:</a:t>
            </a:r>
          </a:p>
          <a:p>
            <a:pPr>
              <a:spcBef>
                <a:spcPts val="600"/>
              </a:spcBef>
              <a:defRPr sz="1100">
                <a:solidFill>
                  <a:srgbClr val="CBD5E1"/>
                </a:solidFill>
              </a:defRPr>
            </a:pPr>
            <a:r>
              <a:t>•   1. Money Deposit: Buyer puts money in a safe lockbox (escrow).</a:t>
            </a:r>
          </a:p>
          <a:p>
            <a:pPr>
              <a:spcBef>
                <a:spcPts val="600"/>
              </a:spcBef>
              <a:defRPr sz="1100">
                <a:solidFill>
                  <a:srgbClr val="CBD5E1"/>
                </a:solidFill>
              </a:defRPr>
            </a:pPr>
            <a:r>
              <a:t>•   2. Code Lock: Seller hands over code and cloud accounts into safe custody.</a:t>
            </a:r>
          </a:p>
          <a:p>
            <a:pPr>
              <a:spcBef>
                <a:spcPts val="600"/>
              </a:spcBef>
              <a:defRPr sz="1100">
                <a:solidFill>
                  <a:srgbClr val="CBD5E1"/>
                </a:solidFill>
              </a:defRPr>
            </a:pPr>
            <a:r>
              <a:t>•   3. Domain Move: The website domain is moved to the buyer.</a:t>
            </a:r>
          </a:p>
          <a:p>
            <a:pPr>
              <a:spcBef>
                <a:spcPts val="600"/>
              </a:spcBef>
              <a:defRPr sz="1100">
                <a:solidFill>
                  <a:srgbClr val="CBD5E1"/>
                </a:solidFill>
              </a:defRPr>
            </a:pPr>
            <a:r>
              <a:t>•   4. Testing &amp; Release: Buyer tests the app; once confirmed, money goes to the seller.</a:t>
            </a:r>
          </a:p>
          <a:p>
            <a:pPr>
              <a:spcBef>
                <a:spcPts val="600"/>
              </a:spcBef>
              <a:defRPr sz="1100">
                <a:solidFill>
                  <a:srgbClr val="CBD5E1"/>
                </a:solidFill>
              </a:defRPr>
            </a:pPr>
            <a:r>
              <a:t>• Interactive Simulator: Users can click through all 4 steps on the screen to see how it works.</a:t>
            </a:r>
          </a:p>
          <a:p>
            <a:pPr>
              <a:spcBef>
                <a:spcPts val="600"/>
              </a:spcBef>
              <a:defRPr sz="1100">
                <a:solidFill>
                  <a:srgbClr val="CBD5E1"/>
                </a:solidFill>
              </a:defRPr>
            </a:pPr>
            <a:r>
              <a:t>• Clean, Professional Look: Simple typography and clean cards instead of confusing neon effects.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defRPr>
            </a:pPr>
            <a:r>
              <a:t>5. CONCLUSION</a:t>
            </a:r>
          </a:p>
        </p:txBody>
      </p:sp>
      <p:sp>
        <p:nvSpPr>
          <p:cNvPr id="4" name="TextBox 3"/>
          <p:cNvSpPr txBox="1"/>
          <p:nvPr/>
        </p:nvSpPr>
        <p:spPr>
          <a:xfrm>
            <a:off x="731520" y="822960"/>
            <a:ext cx="10698480" cy="731520"/>
          </a:xfrm>
          <a:prstGeom prst="rect">
            <a:avLst/>
          </a:prstGeom>
          <a:noFill/>
        </p:spPr>
        <p:txBody>
          <a:bodyPr wrap="square">
            <a:spAutoFit/>
          </a:bodyPr>
          <a:lstStyle/>
          <a:p>
            <a:pPr>
              <a:defRPr sz="2200" b="1">
                <a:solidFill>
                  <a:srgbClr val="FFFFFF"/>
                </a:solidFill>
              </a:defRPr>
            </a:pPr>
            <a:r>
              <a:t>Conclusion &amp; Key Learnings</a:t>
            </a:r>
          </a:p>
          <a:p>
            <a:pPr>
              <a:defRPr sz="1100">
                <a:solidFill>
                  <a:srgbClr val="CBD5E1"/>
                </a:solidFill>
              </a:defRPr>
            </a:pPr>
            <a:r>
              <a:t>The three main things we learned while building this project.</a:t>
            </a:r>
          </a:p>
        </p:txBody>
      </p:sp>
      <p:sp>
        <p:nvSpPr>
          <p:cNvPr id="5" name="Rounded Rectangle 4"/>
          <p:cNvSpPr/>
          <p:nvPr/>
        </p:nvSpPr>
        <p:spPr>
          <a:xfrm>
            <a:off x="731520"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2834640" cy="4206240"/>
          </a:xfrm>
          <a:prstGeom prst="rect">
            <a:avLst/>
          </a:prstGeom>
          <a:noFill/>
        </p:spPr>
        <p:txBody>
          <a:bodyPr wrap="square">
            <a:spAutoFit/>
          </a:bodyPr>
          <a:lstStyle/>
          <a:p>
            <a:pPr>
              <a:defRPr sz="1400" b="1">
                <a:solidFill>
                  <a:srgbClr val="38BDF8"/>
                </a:solidFill>
              </a:defRPr>
            </a:pPr>
            <a:r>
              <a:t>[CODE LESSON]  1. Simple Code is Fast</a:t>
            </a:r>
          </a:p>
          <a:p>
            <a:pPr>
              <a:spcBef>
                <a:spcPts val="600"/>
              </a:spcBef>
              <a:defRPr sz="1100">
                <a:solidFill>
                  <a:srgbClr val="CBD5E1"/>
                </a:solidFill>
              </a:defRPr>
            </a:pPr>
            <a:r>
              <a:t>• We didn't need big frameworks like React to build an interactive multi-page website.</a:t>
            </a:r>
          </a:p>
          <a:p>
            <a:pPr>
              <a:spcBef>
                <a:spcPts val="600"/>
              </a:spcBef>
              <a:defRPr sz="1100">
                <a:solidFill>
                  <a:srgbClr val="CBD5E1"/>
                </a:solidFill>
              </a:defRPr>
            </a:pPr>
            <a:r>
              <a:t>• Pure HTML, CSS, and JavaScript loaded in under 120ms with zero extra installs.</a:t>
            </a:r>
          </a:p>
          <a:p>
            <a:pPr>
              <a:spcBef>
                <a:spcPts val="600"/>
              </a:spcBef>
              <a:defRPr sz="1100">
                <a:solidFill>
                  <a:srgbClr val="CBD5E1"/>
                </a:solidFill>
              </a:defRPr>
            </a:pPr>
            <a:r>
              <a:t>• Fewer libraries mean fewer bugs and zero maintenance headache.</a:t>
            </a:r>
          </a:p>
        </p:txBody>
      </p:sp>
      <p:sp>
        <p:nvSpPr>
          <p:cNvPr id="7" name="Rounded Rectangle 6"/>
          <p:cNvSpPr/>
          <p:nvPr/>
        </p:nvSpPr>
        <p:spPr>
          <a:xfrm>
            <a:off x="4443984"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1920240"/>
            <a:ext cx="2834640" cy="4206240"/>
          </a:xfrm>
          <a:prstGeom prst="rect">
            <a:avLst/>
          </a:prstGeom>
          <a:noFill/>
        </p:spPr>
        <p:txBody>
          <a:bodyPr wrap="square">
            <a:spAutoFit/>
          </a:bodyPr>
          <a:lstStyle/>
          <a:p>
            <a:pPr>
              <a:defRPr sz="1400" b="1">
                <a:solidFill>
                  <a:srgbClr val="4ADE80"/>
                </a:solidFill>
              </a:defRPr>
            </a:pPr>
            <a:r>
              <a:t>[DESIGN LESSON]  2. Clear Info Beats Flashy UI</a:t>
            </a:r>
          </a:p>
          <a:p>
            <a:pPr>
              <a:spcBef>
                <a:spcPts val="600"/>
              </a:spcBef>
              <a:defRPr sz="1100">
                <a:solidFill>
                  <a:srgbClr val="CBD5E1"/>
                </a:solidFill>
              </a:defRPr>
            </a:pPr>
            <a:r>
              <a:t>• In finance and business, people care about honest numbers, not glowing neon buttons.</a:t>
            </a:r>
          </a:p>
          <a:p>
            <a:pPr>
              <a:spcBef>
                <a:spcPts val="600"/>
              </a:spcBef>
              <a:defRPr sz="1100">
                <a:solidFill>
                  <a:srgbClr val="CBD5E1"/>
                </a:solidFill>
              </a:defRPr>
            </a:pPr>
            <a:r>
              <a:t>• Clean tables, verified Stripe data, and clear fee comparisons build real trust with buyers and sellers.</a:t>
            </a:r>
          </a:p>
          <a:p>
            <a:pPr>
              <a:spcBef>
                <a:spcPts val="600"/>
              </a:spcBef>
              <a:defRPr sz="1100">
                <a:solidFill>
                  <a:srgbClr val="CBD5E1"/>
                </a:solidFill>
              </a:defRPr>
            </a:pPr>
            <a:r>
              <a:t>• Simple and plain design looks far more serious and professional.</a:t>
            </a:r>
          </a:p>
        </p:txBody>
      </p:sp>
      <p:sp>
        <p:nvSpPr>
          <p:cNvPr id="9" name="Rounded Rectangle 8"/>
          <p:cNvSpPr/>
          <p:nvPr/>
        </p:nvSpPr>
        <p:spPr>
          <a:xfrm>
            <a:off x="8165592" y="1737360"/>
            <a:ext cx="3291840" cy="4572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1920240"/>
            <a:ext cx="2834640" cy="4206240"/>
          </a:xfrm>
          <a:prstGeom prst="rect">
            <a:avLst/>
          </a:prstGeom>
          <a:noFill/>
        </p:spPr>
        <p:txBody>
          <a:bodyPr wrap="square">
            <a:spAutoFit/>
          </a:bodyPr>
          <a:lstStyle/>
          <a:p>
            <a:pPr>
              <a:defRPr sz="1400" b="1">
                <a:solidFill>
                  <a:srgbClr val="FBBF24"/>
                </a:solidFill>
              </a:defRPr>
            </a:pPr>
            <a:r>
              <a:t>[PRODUCT LESSON]  3. Safety is What Sells</a:t>
            </a:r>
          </a:p>
          <a:p>
            <a:pPr>
              <a:spcBef>
                <a:spcPts val="600"/>
              </a:spcBef>
              <a:defRPr sz="1100">
                <a:solidFill>
                  <a:srgbClr val="CBD5E1"/>
                </a:solidFill>
              </a:defRPr>
            </a:pPr>
            <a:r>
              <a:t>• Anyone can build a website that lists apps for sale.</a:t>
            </a:r>
          </a:p>
          <a:p>
            <a:pPr>
              <a:spcBef>
                <a:spcPts val="600"/>
              </a:spcBef>
              <a:defRPr sz="1100">
                <a:solidFill>
                  <a:srgbClr val="CBD5E1"/>
                </a:solidFill>
              </a:defRPr>
            </a:pPr>
            <a:r>
              <a:t>• The real challenge is making sure nobody gets scammed when handing over code and money.</a:t>
            </a:r>
          </a:p>
          <a:p>
            <a:pPr>
              <a:spcBef>
                <a:spcPts val="600"/>
              </a:spcBef>
              <a:defRPr sz="1100">
                <a:solidFill>
                  <a:srgbClr val="CBD5E1"/>
                </a:solidFill>
              </a:defRPr>
            </a:pPr>
            <a:r>
              <a:t>• Building the safe 4-step handover is what makes this platform genuinely useful and valuable.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