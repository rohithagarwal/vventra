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Today I'm presenting vvEntra. vvEntra is an online platform for buying and selling software businesses safely. I built the website with clean, pure code and zero external dependencies, and added an Atomic Handover Protocol so that neither the buyer nor the seller can get scammed.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1: What is the core idea? Think of it like a trusted real estate service, but for software companies. It solves three problems: high broker fees, fake screenshots, and the fear of getting cheated. Buyers get verified numbers and escrow safety. Sellers save tens of thousands in fees and protect their code. And for our platform, we operate on a clean 90/10 split on successful sales.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2: Here are the main features of the website. First, a top switch that flips between Buyer and Seller mode. Second, a dashboard with an interactive 2x2 grid to filter companies and charts showing market demand. Third, a calculator that tells founders what their software is worth. Fourth, a clean marketplace to search apps. And fifth, a private data room to view sensitive business records safely.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3: For our tech stack, we kept it clean and direct: pure HTML5, CSS3, and Vanilla JavaScript with zero extra libraries. No React, no npm packages, and no build steps. Why is this helpful for adding AI agents? Because all data lives in a clean data file (data.js), and the web code is completely transparent without complex React layers. AI agents can easily connect to it to scan code, update valuations, or answer questions inside the data room.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4: What is our main innovation compared to the original site? The original site had flashy neon colors, but the buttons didn't work and there was no way to safely transfer apps. We built the Safe 4-Step Handover system: first, the buyer deposits 100% of the funds in escrow. Second, code and cloud servers are locked in custody. Third, the domain is moved. And fourth, once the buyer tests and confirms, the seller gets 90% and vvEntra retains 10%. We also built an interactive live simulator right on the page so anyone can test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5: To wrap up, our three biggest learnings: First, simple code is faster and easier to maintain than heavy frameworks. Second, clean numbers and honest data build much more trust than flashy animations. And third, solving the safety problem of handing over code is what gives this platform real value. The website is live and ready to view.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1371600"/>
            <a:ext cx="10362895" cy="41148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920240"/>
            <a:ext cx="9418320" cy="3017520"/>
          </a:xfrm>
          <a:prstGeom prst="rect">
            <a:avLst/>
          </a:prstGeom>
          <a:noFill/>
        </p:spPr>
        <p:txBody>
          <a:bodyPr wrap="square">
            <a:spAutoFit/>
          </a:bodyPr>
          <a:lstStyle/>
          <a:p>
            <a:pPr>
              <a:defRPr sz="4400" b="1">
                <a:solidFill>
                  <a:srgbClr val="FFFFFF"/>
                </a:solidFill>
              </a:defRPr>
            </a:pPr>
            <a:r>
              <a:t>vvEntra</a:t>
            </a:r>
          </a:p>
          <a:p>
            <a:pPr>
              <a:spcBef>
                <a:spcPts val="800"/>
              </a:spcBef>
              <a:defRPr sz="2000">
                <a:solidFill>
                  <a:srgbClr val="38BDF8"/>
                </a:solidFill>
              </a:defRPr>
            </a:pPr>
            <a:r>
              <a:t>A Safe Marketplace to Buy &amp; Sell Software Businesses</a:t>
            </a:r>
          </a:p>
          <a:p>
            <a:pPr>
              <a:spcBef>
                <a:spcPts val="1400"/>
              </a:spcBef>
              <a:defRPr sz="1300">
                <a:solidFill>
                  <a:srgbClr val="E2E8F0"/>
                </a:solidFill>
              </a:defRPr>
            </a:pPr>
            <a:r>
              <a:t>An institutional platform where developers and investors trade software, apps, and digital IP safely without getting scammed.</a:t>
            </a:r>
          </a:p>
          <a:p>
            <a:pPr>
              <a:spcBef>
                <a:spcPts val="2400"/>
              </a:spcBef>
              <a:defRPr sz="1100">
                <a:solidFill>
                  <a:srgbClr val="4ADE80"/>
                </a:solidFill>
              </a:defRPr>
            </a:pPr>
            <a:r>
              <a:t>Live Website: https://rohithagarwal.github.io/vventra/   |   Repository: github.com/rohithagarwal/vventra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4572000" cy="320040"/>
          </a:xfrm>
          <a:prstGeom prst="rect">
            <a:avLst/>
          </a:prstGeom>
          <a:noFill/>
        </p:spPr>
        <p:txBody>
          <a:bodyPr wrap="none">
            <a:spAutoFit/>
          </a:bodyPr>
          <a:lstStyle/>
          <a:p>
            <a:pPr>
              <a:defRPr sz="1000" b="1">
                <a:solidFill>
                  <a:srgbClr val="38BDF8"/>
                </a:solidFill>
              </a:defRPr>
            </a:pPr>
            <a:r>
              <a:t>SLIDE 01 · VVENTRA OVERVIEW</a:t>
            </a:r>
          </a:p>
        </p:txBody>
      </p:sp>
      <p:sp>
        <p:nvSpPr>
          <p:cNvPr id="4" name="TextBox 3"/>
          <p:cNvSpPr txBox="1"/>
          <p:nvPr/>
        </p:nvSpPr>
        <p:spPr>
          <a:xfrm>
            <a:off x="822960" y="777240"/>
            <a:ext cx="10515600" cy="594360"/>
          </a:xfrm>
          <a:prstGeom prst="rect">
            <a:avLst/>
          </a:prstGeom>
          <a:noFill/>
        </p:spPr>
        <p:txBody>
          <a:bodyPr wrap="none">
            <a:spAutoFit/>
          </a:bodyPr>
          <a:lstStyle/>
          <a:p>
            <a:pPr>
              <a:defRPr sz="2400" b="1">
                <a:solidFill>
                  <a:srgbClr val="FFFFFF"/>
                </a:solidFill>
              </a:defRPr>
            </a:pPr>
            <a:r>
              <a:t>Core Idea, Problem Solved &amp; Benefits</a:t>
            </a:r>
          </a:p>
        </p:txBody>
      </p:sp>
      <p:sp>
        <p:nvSpPr>
          <p:cNvPr id="5" name="TextBox 4"/>
          <p:cNvSpPr txBox="1"/>
          <p:nvPr/>
        </p:nvSpPr>
        <p:spPr>
          <a:xfrm>
            <a:off x="822960" y="1325880"/>
            <a:ext cx="10515600" cy="411480"/>
          </a:xfrm>
          <a:prstGeom prst="rect">
            <a:avLst/>
          </a:prstGeom>
          <a:noFill/>
        </p:spPr>
        <p:txBody>
          <a:bodyPr wrap="none">
            <a:spAutoFit/>
          </a:bodyPr>
          <a:lstStyle/>
          <a:p>
            <a:pPr>
              <a:defRPr sz="1200">
                <a:solidFill>
                  <a:srgbClr val="94A3B8"/>
                </a:solidFill>
              </a:defRPr>
            </a:pPr>
            <a:r>
              <a:t>Why software M&amp;A is broken today and how vvEntra solves it.</a:t>
            </a:r>
          </a:p>
        </p:txBody>
      </p:sp>
      <p:sp>
        <p:nvSpPr>
          <p:cNvPr id="6" name="Rounded Rectangle 5"/>
          <p:cNvSpPr/>
          <p:nvPr/>
        </p:nvSpPr>
        <p:spPr>
          <a:xfrm>
            <a:off x="822960" y="1920240"/>
            <a:ext cx="329184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48840"/>
            <a:ext cx="2743200" cy="3840480"/>
          </a:xfrm>
          <a:prstGeom prst="rect">
            <a:avLst/>
          </a:prstGeom>
          <a:noFill/>
        </p:spPr>
        <p:txBody>
          <a:bodyPr wrap="square">
            <a:spAutoFit/>
          </a:bodyPr>
          <a:lstStyle/>
          <a:p>
            <a:pPr>
              <a:defRPr sz="1500" b="1">
                <a:solidFill>
                  <a:srgbClr val="FBBF24"/>
                </a:solidFill>
              </a:defRPr>
            </a:pPr>
            <a:r>
              <a:t>The Problem</a:t>
            </a:r>
          </a:p>
          <a:p>
            <a:pPr>
              <a:spcBef>
                <a:spcPts val="800"/>
              </a:spcBef>
              <a:defRPr sz="1150">
                <a:solidFill>
                  <a:srgbClr val="E2E8F0"/>
                </a:solidFill>
              </a:defRPr>
            </a:pPr>
            <a:r>
              <a:t>• Expensive Middlemen: Traditional brokers charge 10% to 15% and take 6 to 12 months.</a:t>
            </a:r>
          </a:p>
          <a:p>
            <a:pPr>
              <a:spcBef>
                <a:spcPts val="800"/>
              </a:spcBef>
              <a:defRPr sz="1150">
                <a:solidFill>
                  <a:srgbClr val="E2E8F0"/>
                </a:solidFill>
              </a:defRPr>
            </a:pPr>
            <a:r>
              <a:t>• Fake Screenshots: Public websites are full of fake revenue numbers and copied code.</a:t>
            </a:r>
          </a:p>
          <a:p>
            <a:pPr>
              <a:spcBef>
                <a:spcPts val="800"/>
              </a:spcBef>
              <a:defRPr sz="1150">
                <a:solidFill>
                  <a:srgbClr val="E2E8F0"/>
                </a:solidFill>
              </a:defRPr>
            </a:pPr>
            <a:r>
              <a:t>• Settlement Fear: Buyers fear paying and getting ghosted; sellers fear handing over code without payment.</a:t>
            </a:r>
          </a:p>
        </p:txBody>
      </p:sp>
      <p:sp>
        <p:nvSpPr>
          <p:cNvPr id="8" name="Rounded Rectangle 7"/>
          <p:cNvSpPr/>
          <p:nvPr/>
        </p:nvSpPr>
        <p:spPr>
          <a:xfrm>
            <a:off x="4443984" y="1920240"/>
            <a:ext cx="329184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8304" y="2148840"/>
            <a:ext cx="2743200" cy="3840480"/>
          </a:xfrm>
          <a:prstGeom prst="rect">
            <a:avLst/>
          </a:prstGeom>
          <a:noFill/>
        </p:spPr>
        <p:txBody>
          <a:bodyPr wrap="square">
            <a:spAutoFit/>
          </a:bodyPr>
          <a:lstStyle/>
          <a:p>
            <a:pPr>
              <a:defRPr sz="1500" b="1">
                <a:solidFill>
                  <a:srgbClr val="4ADE80"/>
                </a:solidFill>
              </a:defRPr>
            </a:pPr>
            <a:r>
              <a:t>Benefits for the User</a:t>
            </a:r>
          </a:p>
          <a:p>
            <a:pPr>
              <a:spcBef>
                <a:spcPts val="800"/>
              </a:spcBef>
              <a:defRPr sz="1150">
                <a:solidFill>
                  <a:srgbClr val="E2E8F0"/>
                </a:solidFill>
              </a:defRPr>
            </a:pPr>
            <a:r>
              <a:t>• For Buyers: Real earnings verified directly by Stripe, clean code audits, and money held safely in escrow.</a:t>
            </a:r>
          </a:p>
          <a:p>
            <a:pPr>
              <a:spcBef>
                <a:spcPts val="800"/>
              </a:spcBef>
              <a:defRPr sz="1150">
                <a:solidFill>
                  <a:srgbClr val="E2E8F0"/>
                </a:solidFill>
              </a:defRPr>
            </a:pPr>
            <a:r>
              <a:t>• For Sellers: Low fees (3% to 7% saving $50k+), serious buyers, and code is never handed over until full funds are locked.</a:t>
            </a:r>
          </a:p>
          <a:p>
            <a:pPr>
              <a:spcBef>
                <a:spcPts val="800"/>
              </a:spcBef>
              <a:defRPr sz="1150">
                <a:solidFill>
                  <a:srgbClr val="E2E8F0"/>
                </a:solidFill>
              </a:defRPr>
            </a:pPr>
            <a:r>
              <a:t>• Fast Timeline: Deals close in an average of 18 days instead of nearly a year.</a:t>
            </a:r>
          </a:p>
        </p:txBody>
      </p:sp>
      <p:sp>
        <p:nvSpPr>
          <p:cNvPr id="10" name="Rounded Rectangle 9"/>
          <p:cNvSpPr/>
          <p:nvPr/>
        </p:nvSpPr>
        <p:spPr>
          <a:xfrm>
            <a:off x="8074152" y="1920240"/>
            <a:ext cx="329184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8472" y="2148840"/>
            <a:ext cx="2743200" cy="3840480"/>
          </a:xfrm>
          <a:prstGeom prst="rect">
            <a:avLst/>
          </a:prstGeom>
          <a:noFill/>
        </p:spPr>
        <p:txBody>
          <a:bodyPr wrap="square">
            <a:spAutoFit/>
          </a:bodyPr>
          <a:lstStyle/>
          <a:p>
            <a:pPr>
              <a:defRPr sz="1500" b="1">
                <a:solidFill>
                  <a:srgbClr val="38BDF8"/>
                </a:solidFill>
              </a:defRPr>
            </a:pPr>
            <a:r>
              <a:t>Benefits for Us (Business)</a:t>
            </a:r>
          </a:p>
          <a:p>
            <a:pPr>
              <a:spcBef>
                <a:spcPts val="800"/>
              </a:spcBef>
              <a:defRPr sz="1150">
                <a:solidFill>
                  <a:srgbClr val="E2E8F0"/>
                </a:solidFill>
              </a:defRPr>
            </a:pPr>
            <a:r>
              <a:t>• Clean Revenue Model: We take a transparent fee on every sale (90% to seller / 10% to vvEntra).</a:t>
            </a:r>
          </a:p>
          <a:p>
            <a:pPr>
              <a:spcBef>
                <a:spcPts val="800"/>
              </a:spcBef>
              <a:defRPr sz="1150">
                <a:solidFill>
                  <a:srgbClr val="E2E8F0"/>
                </a:solidFill>
              </a:defRPr>
            </a:pPr>
            <a:r>
              <a:t>• Extra Services: Revenue from technical code audits, escrow fees, and private deal room access.</a:t>
            </a:r>
          </a:p>
          <a:p>
            <a:pPr>
              <a:spcBef>
                <a:spcPts val="800"/>
              </a:spcBef>
              <a:defRPr sz="1150">
                <a:solidFill>
                  <a:srgbClr val="E2E8F0"/>
                </a:solidFill>
              </a:defRPr>
            </a:pPr>
            <a:r>
              <a:t>• Market Data: We build a real database of what software companies actually sell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4572000" cy="320040"/>
          </a:xfrm>
          <a:prstGeom prst="rect">
            <a:avLst/>
          </a:prstGeom>
          <a:noFill/>
        </p:spPr>
        <p:txBody>
          <a:bodyPr wrap="none">
            <a:spAutoFit/>
          </a:bodyPr>
          <a:lstStyle/>
          <a:p>
            <a:pPr>
              <a:defRPr sz="1000" b="1">
                <a:solidFill>
                  <a:srgbClr val="38BDF8"/>
                </a:solidFill>
              </a:defRPr>
            </a:pPr>
            <a:r>
              <a:t>SLIDE 02 · VVENTRA OVERVIEW</a:t>
            </a:r>
          </a:p>
        </p:txBody>
      </p:sp>
      <p:sp>
        <p:nvSpPr>
          <p:cNvPr id="4" name="TextBox 3"/>
          <p:cNvSpPr txBox="1"/>
          <p:nvPr/>
        </p:nvSpPr>
        <p:spPr>
          <a:xfrm>
            <a:off x="822960" y="777240"/>
            <a:ext cx="10515600" cy="594360"/>
          </a:xfrm>
          <a:prstGeom prst="rect">
            <a:avLst/>
          </a:prstGeom>
          <a:noFill/>
        </p:spPr>
        <p:txBody>
          <a:bodyPr wrap="none">
            <a:spAutoFit/>
          </a:bodyPr>
          <a:lstStyle/>
          <a:p>
            <a:pPr>
              <a:defRPr sz="2400" b="1">
                <a:solidFill>
                  <a:srgbClr val="FFFFFF"/>
                </a:solidFill>
              </a:defRPr>
            </a:pPr>
            <a:r>
              <a:t>Each Major Functionality of the Website</a:t>
            </a:r>
          </a:p>
        </p:txBody>
      </p:sp>
      <p:sp>
        <p:nvSpPr>
          <p:cNvPr id="5" name="TextBox 4"/>
          <p:cNvSpPr txBox="1"/>
          <p:nvPr/>
        </p:nvSpPr>
        <p:spPr>
          <a:xfrm>
            <a:off x="822960" y="1325880"/>
            <a:ext cx="10515600" cy="411480"/>
          </a:xfrm>
          <a:prstGeom prst="rect">
            <a:avLst/>
          </a:prstGeom>
          <a:noFill/>
        </p:spPr>
        <p:txBody>
          <a:bodyPr wrap="none">
            <a:spAutoFit/>
          </a:bodyPr>
          <a:lstStyle/>
          <a:p>
            <a:pPr>
              <a:defRPr sz="1200">
                <a:solidFill>
                  <a:srgbClr val="94A3B8"/>
                </a:solidFill>
              </a:defRPr>
            </a:pPr>
            <a:r>
              <a:t>What users can actually see, click, and do on the platform.</a:t>
            </a:r>
          </a:p>
        </p:txBody>
      </p:sp>
      <p:sp>
        <p:nvSpPr>
          <p:cNvPr id="6" name="Rounded Rectangle 5"/>
          <p:cNvSpPr/>
          <p:nvPr/>
        </p:nvSpPr>
        <p:spPr>
          <a:xfrm>
            <a:off x="822960" y="1920240"/>
            <a:ext cx="329184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48840"/>
            <a:ext cx="2743200" cy="3840480"/>
          </a:xfrm>
          <a:prstGeom prst="rect">
            <a:avLst/>
          </a:prstGeom>
          <a:noFill/>
        </p:spPr>
        <p:txBody>
          <a:bodyPr wrap="square">
            <a:spAutoFit/>
          </a:bodyPr>
          <a:lstStyle/>
          <a:p>
            <a:pPr>
              <a:defRPr sz="1500" b="1">
                <a:solidFill>
                  <a:srgbClr val="38BDF8"/>
                </a:solidFill>
              </a:defRPr>
            </a:pPr>
            <a:r>
              <a:t>Market Dashboard</a:t>
            </a:r>
          </a:p>
          <a:p>
            <a:pPr>
              <a:spcBef>
                <a:spcPts val="800"/>
              </a:spcBef>
              <a:defRPr sz="1150">
                <a:solidFill>
                  <a:srgbClr val="E2E8F0"/>
                </a:solidFill>
              </a:defRPr>
            </a:pPr>
            <a:r>
              <a:t>• Buyer / Seller Switch: One click changes the view to show what buyers care about (returns) or what sellers care about (valuations).</a:t>
            </a:r>
          </a:p>
          <a:p>
            <a:pPr>
              <a:spcBef>
                <a:spcPts val="800"/>
              </a:spcBef>
              <a:defRPr sz="1150">
                <a:solidFill>
                  <a:srgbClr val="E2E8F0"/>
                </a:solidFill>
              </a:defRPr>
            </a:pPr>
            <a:r>
              <a:t>• 2×2 Market Grid: Groups software into 4 simple buckets. Clicking any box filters the marketplace in real time.</a:t>
            </a:r>
          </a:p>
          <a:p>
            <a:pPr>
              <a:spcBef>
                <a:spcPts val="800"/>
              </a:spcBef>
              <a:defRPr sz="1150">
                <a:solidFill>
                  <a:srgbClr val="E2E8F0"/>
                </a:solidFill>
              </a:defRPr>
            </a:pPr>
            <a:r>
              <a:t>• Supply &amp; Demand Chart: Shows which categories (like AI or FinTech) have the highest buyer interest.</a:t>
            </a:r>
          </a:p>
        </p:txBody>
      </p:sp>
      <p:sp>
        <p:nvSpPr>
          <p:cNvPr id="8" name="Rounded Rectangle 7"/>
          <p:cNvSpPr/>
          <p:nvPr/>
        </p:nvSpPr>
        <p:spPr>
          <a:xfrm>
            <a:off x="4443984" y="1920240"/>
            <a:ext cx="329184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8304" y="2148840"/>
            <a:ext cx="2743200" cy="3840480"/>
          </a:xfrm>
          <a:prstGeom prst="rect">
            <a:avLst/>
          </a:prstGeom>
          <a:noFill/>
        </p:spPr>
        <p:txBody>
          <a:bodyPr wrap="square">
            <a:spAutoFit/>
          </a:bodyPr>
          <a:lstStyle/>
          <a:p>
            <a:pPr>
              <a:defRPr sz="1500" b="1">
                <a:solidFill>
                  <a:srgbClr val="4ADE80"/>
                </a:solidFill>
              </a:defRPr>
            </a:pPr>
            <a:r>
              <a:t>Valuation &amp; Browse</a:t>
            </a:r>
          </a:p>
          <a:p>
            <a:pPr>
              <a:spcBef>
                <a:spcPts val="800"/>
              </a:spcBef>
              <a:defRPr sz="1150">
                <a:solidFill>
                  <a:srgbClr val="E2E8F0"/>
                </a:solidFill>
              </a:defRPr>
            </a:pPr>
            <a:r>
              <a:t>• Price Calculator: A tool for sellers. You enter your annual revenue, and it calculates your estimated selling price and chance of selling.</a:t>
            </a:r>
          </a:p>
          <a:p>
            <a:pPr>
              <a:spcBef>
                <a:spcPts val="800"/>
              </a:spcBef>
              <a:defRPr sz="1150">
                <a:solidFill>
                  <a:srgbClr val="E2E8F0"/>
                </a:solidFill>
              </a:defRPr>
            </a:pPr>
            <a:r>
              <a:t>• Browse Marketplace: Search and filter companies by sector (AI, SaaS, FinTech, DevTools) with real monthly earnings, profit, and tech stack shown.</a:t>
            </a:r>
          </a:p>
        </p:txBody>
      </p:sp>
      <p:sp>
        <p:nvSpPr>
          <p:cNvPr id="10" name="Rounded Rectangle 9"/>
          <p:cNvSpPr/>
          <p:nvPr/>
        </p:nvSpPr>
        <p:spPr>
          <a:xfrm>
            <a:off x="8074152" y="1920240"/>
            <a:ext cx="329184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8472" y="2148840"/>
            <a:ext cx="2743200" cy="3840480"/>
          </a:xfrm>
          <a:prstGeom prst="rect">
            <a:avLst/>
          </a:prstGeom>
          <a:noFill/>
        </p:spPr>
        <p:txBody>
          <a:bodyPr wrap="square">
            <a:spAutoFit/>
          </a:bodyPr>
          <a:lstStyle/>
          <a:p>
            <a:pPr>
              <a:defRPr sz="1500" b="1">
                <a:solidFill>
                  <a:srgbClr val="FBBF24"/>
                </a:solidFill>
              </a:defRPr>
            </a:pPr>
            <a:r>
              <a:t>Diligence &amp; Pricing</a:t>
            </a:r>
          </a:p>
          <a:p>
            <a:pPr>
              <a:spcBef>
                <a:spcPts val="800"/>
              </a:spcBef>
              <a:defRPr sz="1150">
                <a:solidFill>
                  <a:srgbClr val="E2E8F0"/>
                </a:solidFill>
              </a:defRPr>
            </a:pPr>
            <a:r>
              <a:t>• Virtual Data Room (VDR): A locked room where buyers can view private tax files and code stats after signing a digital NDA.</a:t>
            </a:r>
          </a:p>
          <a:p>
            <a:pPr>
              <a:spcBef>
                <a:spcPts val="800"/>
              </a:spcBef>
              <a:defRPr sz="1150">
                <a:solidFill>
                  <a:srgbClr val="E2E8F0"/>
                </a:solidFill>
              </a:defRPr>
            </a:pPr>
            <a:r>
              <a:t>• Video Diligence Console: An embedded video player where the founder walks through the code architecture.</a:t>
            </a:r>
          </a:p>
          <a:p>
            <a:pPr>
              <a:spcBef>
                <a:spcPts val="800"/>
              </a:spcBef>
              <a:defRPr sz="1150">
                <a:solidFill>
                  <a:srgbClr val="E2E8F0"/>
                </a:solidFill>
              </a:defRPr>
            </a:pPr>
            <a:r>
              <a:t>• Fee Calculator: A slider showing exact dollar savings compared to traditional 10%–15% brokers.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4572000" cy="320040"/>
          </a:xfrm>
          <a:prstGeom prst="rect">
            <a:avLst/>
          </a:prstGeom>
          <a:noFill/>
        </p:spPr>
        <p:txBody>
          <a:bodyPr wrap="none">
            <a:spAutoFit/>
          </a:bodyPr>
          <a:lstStyle/>
          <a:p>
            <a:pPr>
              <a:defRPr sz="1000" b="1">
                <a:solidFill>
                  <a:srgbClr val="38BDF8"/>
                </a:solidFill>
              </a:defRPr>
            </a:pPr>
            <a:r>
              <a:t>SLIDE 03 · VVENTRA OVERVIEW</a:t>
            </a:r>
          </a:p>
        </p:txBody>
      </p:sp>
      <p:sp>
        <p:nvSpPr>
          <p:cNvPr id="4" name="TextBox 3"/>
          <p:cNvSpPr txBox="1"/>
          <p:nvPr/>
        </p:nvSpPr>
        <p:spPr>
          <a:xfrm>
            <a:off x="822960" y="777240"/>
            <a:ext cx="10515600" cy="594360"/>
          </a:xfrm>
          <a:prstGeom prst="rect">
            <a:avLst/>
          </a:prstGeom>
          <a:noFill/>
        </p:spPr>
        <p:txBody>
          <a:bodyPr wrap="none">
            <a:spAutoFit/>
          </a:bodyPr>
          <a:lstStyle/>
          <a:p>
            <a:pPr>
              <a:defRPr sz="2400" b="1">
                <a:solidFill>
                  <a:srgbClr val="FFFFFF"/>
                </a:solidFill>
              </a:defRPr>
            </a:pPr>
            <a:r>
              <a:t>The Technology Stack Used</a:t>
            </a:r>
          </a:p>
        </p:txBody>
      </p:sp>
      <p:sp>
        <p:nvSpPr>
          <p:cNvPr id="5" name="TextBox 4"/>
          <p:cNvSpPr txBox="1"/>
          <p:nvPr/>
        </p:nvSpPr>
        <p:spPr>
          <a:xfrm>
            <a:off x="822960" y="1325880"/>
            <a:ext cx="10515600" cy="411480"/>
          </a:xfrm>
          <a:prstGeom prst="rect">
            <a:avLst/>
          </a:prstGeom>
          <a:noFill/>
        </p:spPr>
        <p:txBody>
          <a:bodyPr wrap="none">
            <a:spAutoFit/>
          </a:bodyPr>
          <a:lstStyle/>
          <a:p>
            <a:pPr>
              <a:defRPr sz="1200">
                <a:solidFill>
                  <a:srgbClr val="94A3B8"/>
                </a:solidFill>
              </a:defRPr>
            </a:pPr>
            <a:r>
              <a:t>Built with clean web standards, zero extra libraries, and AI-agent readiness.</a:t>
            </a:r>
          </a:p>
        </p:txBody>
      </p:sp>
      <p:sp>
        <p:nvSpPr>
          <p:cNvPr id="6" name="Rounded Rectangle 5"/>
          <p:cNvSpPr/>
          <p:nvPr/>
        </p:nvSpPr>
        <p:spPr>
          <a:xfrm>
            <a:off x="822960" y="1920240"/>
            <a:ext cx="521208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48840"/>
            <a:ext cx="4663440" cy="3840480"/>
          </a:xfrm>
          <a:prstGeom prst="rect">
            <a:avLst/>
          </a:prstGeom>
          <a:noFill/>
        </p:spPr>
        <p:txBody>
          <a:bodyPr wrap="square">
            <a:spAutoFit/>
          </a:bodyPr>
          <a:lstStyle/>
          <a:p>
            <a:pPr>
              <a:defRPr sz="1500" b="1">
                <a:solidFill>
                  <a:srgbClr val="38BDF8"/>
                </a:solidFill>
              </a:defRPr>
            </a:pPr>
            <a:r>
              <a:t>Tech Stack Used in the Project</a:t>
            </a:r>
          </a:p>
          <a:p>
            <a:pPr>
              <a:spcBef>
                <a:spcPts val="800"/>
              </a:spcBef>
              <a:defRPr sz="1150">
                <a:solidFill>
                  <a:srgbClr val="E2E8F0"/>
                </a:solidFill>
              </a:defRPr>
            </a:pPr>
            <a:r>
              <a:t>• HTML5: Semantic, accessible page structure powering an 8-view Single Page Application (SPA).</a:t>
            </a:r>
          </a:p>
          <a:p>
            <a:pPr>
              <a:spcBef>
                <a:spcPts val="800"/>
              </a:spcBef>
              <a:defRPr sz="1150">
                <a:solidFill>
                  <a:srgbClr val="E2E8F0"/>
                </a:solidFill>
              </a:defRPr>
            </a:pPr>
            <a:r>
              <a:t>• CSS3: Strict BEM architecture with native CSS custom properties for instant role and theme switching (no Tailwind/Bootstrap bloat).</a:t>
            </a:r>
          </a:p>
          <a:p>
            <a:pPr>
              <a:spcBef>
                <a:spcPts val="800"/>
              </a:spcBef>
              <a:defRPr sz="1150">
                <a:solidFill>
                  <a:srgbClr val="E2E8F0"/>
                </a:solidFill>
              </a:defRPr>
            </a:pPr>
            <a:r>
              <a:t>• Vanilla JavaScript (ES6+): Pure JavaScript for client-side routing, state management, and mathematical SVG chart drawing. Zero npm packages, zero React, and zero build steps.</a:t>
            </a:r>
          </a:p>
          <a:p>
            <a:pPr>
              <a:spcBef>
                <a:spcPts val="800"/>
              </a:spcBef>
              <a:defRPr sz="1150">
                <a:solidFill>
                  <a:srgbClr val="E2E8F0"/>
                </a:solidFill>
              </a:defRPr>
            </a:pPr>
            <a:r>
              <a:t>• Git &amp; GitHub Pages: Version-controlled on GitHub and deployed globally with sub-120ms load speeds.</a:t>
            </a:r>
          </a:p>
        </p:txBody>
      </p:sp>
      <p:sp>
        <p:nvSpPr>
          <p:cNvPr id="8" name="Rounded Rectangle 7"/>
          <p:cNvSpPr/>
          <p:nvPr/>
        </p:nvSpPr>
        <p:spPr>
          <a:xfrm>
            <a:off x="6309360" y="1920240"/>
            <a:ext cx="502920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148840"/>
            <a:ext cx="4480560" cy="3840480"/>
          </a:xfrm>
          <a:prstGeom prst="rect">
            <a:avLst/>
          </a:prstGeom>
          <a:noFill/>
        </p:spPr>
        <p:txBody>
          <a:bodyPr wrap="square">
            <a:spAutoFit/>
          </a:bodyPr>
          <a:lstStyle/>
          <a:p>
            <a:pPr>
              <a:defRPr sz="1500" b="1">
                <a:solidFill>
                  <a:srgbClr val="4ADE80"/>
                </a:solidFill>
              </a:defRPr>
            </a:pPr>
            <a:r>
              <a:t>How AI Agents Can Be Added</a:t>
            </a:r>
          </a:p>
          <a:p>
            <a:pPr>
              <a:spcBef>
                <a:spcPts val="800"/>
              </a:spcBef>
              <a:defRPr sz="1150">
                <a:solidFill>
                  <a:srgbClr val="E2E8F0"/>
                </a:solidFill>
              </a:defRPr>
            </a:pPr>
            <a:r>
              <a:t>• Clean Data Layer (data.js): All listings and numbers live in one structured file. AI agents can easily add, audit, and update listings via APIs.</a:t>
            </a:r>
          </a:p>
          <a:p>
            <a:pPr>
              <a:spcBef>
                <a:spcPts val="800"/>
              </a:spcBef>
              <a:defRPr sz="1150">
                <a:solidFill>
                  <a:srgbClr val="E2E8F0"/>
                </a:solidFill>
              </a:defRPr>
            </a:pPr>
            <a:r>
              <a:t>• No Hidden React Code: Because the HTML is clean and direct, AI browser tools can easily click buttons, search listings, and read text.</a:t>
            </a:r>
          </a:p>
          <a:p>
            <a:pPr>
              <a:spcBef>
                <a:spcPts val="800"/>
              </a:spcBef>
              <a:defRPr sz="1150">
                <a:solidFill>
                  <a:srgbClr val="E2E8F0"/>
                </a:solidFill>
              </a:defRPr>
            </a:pPr>
            <a:r>
              <a:t>• AI Agents We Can Add Easily:</a:t>
            </a:r>
          </a:p>
          <a:p>
            <a:pPr>
              <a:spcBef>
                <a:spcPts val="800"/>
              </a:spcBef>
              <a:defRPr sz="1150">
                <a:solidFill>
                  <a:srgbClr val="E2E8F0"/>
                </a:solidFill>
              </a:defRPr>
            </a:pPr>
            <a:r>
              <a:t>•   • Code Audit AI: Automatically scans GitHub repos and outputs a code safety score.</a:t>
            </a:r>
          </a:p>
          <a:p>
            <a:pPr>
              <a:spcBef>
                <a:spcPts val="800"/>
              </a:spcBef>
              <a:defRPr sz="1150">
                <a:solidFill>
                  <a:srgbClr val="E2E8F0"/>
                </a:solidFill>
              </a:defRPr>
            </a:pPr>
            <a:r>
              <a:t>•   • Valuation AI: Checks recent sales and updates price estimates automatically.</a:t>
            </a:r>
          </a:p>
          <a:p>
            <a:pPr>
              <a:spcBef>
                <a:spcPts val="800"/>
              </a:spcBef>
              <a:defRPr sz="1150">
                <a:solidFill>
                  <a:srgbClr val="E2E8F0"/>
                </a:solidFill>
              </a:defRPr>
            </a:pPr>
            <a:r>
              <a:t>•   • Q&amp;A Chatbot AI: Answers buyers' questions inside the private data room.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4572000" cy="320040"/>
          </a:xfrm>
          <a:prstGeom prst="rect">
            <a:avLst/>
          </a:prstGeom>
          <a:noFill/>
        </p:spPr>
        <p:txBody>
          <a:bodyPr wrap="none">
            <a:spAutoFit/>
          </a:bodyPr>
          <a:lstStyle/>
          <a:p>
            <a:pPr>
              <a:defRPr sz="1000" b="1">
                <a:solidFill>
                  <a:srgbClr val="38BDF8"/>
                </a:solidFill>
              </a:defRPr>
            </a:pPr>
            <a:r>
              <a:t>SLIDE 04 · VVENTRA OVERVIEW</a:t>
            </a:r>
          </a:p>
        </p:txBody>
      </p:sp>
      <p:sp>
        <p:nvSpPr>
          <p:cNvPr id="4" name="TextBox 3"/>
          <p:cNvSpPr txBox="1"/>
          <p:nvPr/>
        </p:nvSpPr>
        <p:spPr>
          <a:xfrm>
            <a:off x="822960" y="777240"/>
            <a:ext cx="10515600" cy="594360"/>
          </a:xfrm>
          <a:prstGeom prst="rect">
            <a:avLst/>
          </a:prstGeom>
          <a:noFill/>
        </p:spPr>
        <p:txBody>
          <a:bodyPr wrap="none">
            <a:spAutoFit/>
          </a:bodyPr>
          <a:lstStyle/>
          <a:p>
            <a:pPr>
              <a:defRPr sz="2400" b="1">
                <a:solidFill>
                  <a:srgbClr val="FFFFFF"/>
                </a:solidFill>
              </a:defRPr>
            </a:pPr>
            <a:r>
              <a:t>Our Innovation: The Atomic Handover Protocol™</a:t>
            </a:r>
          </a:p>
        </p:txBody>
      </p:sp>
      <p:sp>
        <p:nvSpPr>
          <p:cNvPr id="5" name="TextBox 4"/>
          <p:cNvSpPr txBox="1"/>
          <p:nvPr/>
        </p:nvSpPr>
        <p:spPr>
          <a:xfrm>
            <a:off x="822960" y="1325880"/>
            <a:ext cx="10515600" cy="411480"/>
          </a:xfrm>
          <a:prstGeom prst="rect">
            <a:avLst/>
          </a:prstGeom>
          <a:noFill/>
        </p:spPr>
        <p:txBody>
          <a:bodyPr wrap="none">
            <a:spAutoFit/>
          </a:bodyPr>
          <a:lstStyle/>
          <a:p>
            <a:pPr>
              <a:defRPr sz="1200">
                <a:solidFill>
                  <a:srgbClr val="94A3B8"/>
                </a:solidFill>
              </a:defRPr>
            </a:pPr>
            <a:r>
              <a:t>A safe 4-step escrow transfer that eliminates code theft and payment risk.</a:t>
            </a:r>
          </a:p>
        </p:txBody>
      </p:sp>
      <p:sp>
        <p:nvSpPr>
          <p:cNvPr id="6" name="Rounded Rectangle 5"/>
          <p:cNvSpPr/>
          <p:nvPr/>
        </p:nvSpPr>
        <p:spPr>
          <a:xfrm>
            <a:off x="822960" y="1920240"/>
            <a:ext cx="521208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48840"/>
            <a:ext cx="4663440" cy="3840480"/>
          </a:xfrm>
          <a:prstGeom prst="rect">
            <a:avLst/>
          </a:prstGeom>
          <a:noFill/>
        </p:spPr>
        <p:txBody>
          <a:bodyPr wrap="square">
            <a:spAutoFit/>
          </a:bodyPr>
          <a:lstStyle/>
          <a:p>
            <a:pPr>
              <a:defRPr sz="1500" b="1">
                <a:solidFill>
                  <a:srgbClr val="FBBF24"/>
                </a:solidFill>
              </a:defRPr>
            </a:pPr>
            <a:r>
              <a:t>The Problem in the Original Website</a:t>
            </a:r>
          </a:p>
          <a:p>
            <a:pPr>
              <a:spcBef>
                <a:spcPts val="800"/>
              </a:spcBef>
              <a:defRPr sz="1150">
                <a:solidFill>
                  <a:srgbClr val="E2E8F0"/>
                </a:solidFill>
              </a:defRPr>
            </a:pPr>
            <a:r>
              <a:t>• Flashy Graphics Over Substance: Used heavy neon purple colors and glows that looked like a video game or crypto token.</a:t>
            </a:r>
          </a:p>
          <a:p>
            <a:pPr>
              <a:spcBef>
                <a:spcPts val="800"/>
              </a:spcBef>
              <a:defRPr sz="1150">
                <a:solidFill>
                  <a:srgbClr val="E2E8F0"/>
                </a:solidFill>
              </a:defRPr>
            </a:pPr>
            <a:r>
              <a:t>• Buttons Did Not Work: Many cards and charts were just pictures that you could not click or interact with.</a:t>
            </a:r>
          </a:p>
          <a:p>
            <a:pPr>
              <a:spcBef>
                <a:spcPts val="800"/>
              </a:spcBef>
              <a:defRPr sz="1150">
                <a:solidFill>
                  <a:srgbClr val="E2E8F0"/>
                </a:solidFill>
              </a:defRPr>
            </a:pPr>
            <a:r>
              <a:t>• No Safe Transfer Method: Only had a basic 'Buy' button, with no answer to how code or money is actually protected.</a:t>
            </a:r>
          </a:p>
        </p:txBody>
      </p:sp>
      <p:sp>
        <p:nvSpPr>
          <p:cNvPr id="8" name="Rounded Rectangle 7"/>
          <p:cNvSpPr/>
          <p:nvPr/>
        </p:nvSpPr>
        <p:spPr>
          <a:xfrm>
            <a:off x="6309360" y="1920240"/>
            <a:ext cx="502920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148840"/>
            <a:ext cx="4480560" cy="3840480"/>
          </a:xfrm>
          <a:prstGeom prst="rect">
            <a:avLst/>
          </a:prstGeom>
          <a:noFill/>
        </p:spPr>
        <p:txBody>
          <a:bodyPr wrap="square">
            <a:spAutoFit/>
          </a:bodyPr>
          <a:lstStyle/>
          <a:p>
            <a:pPr>
              <a:defRPr sz="1500" b="1">
                <a:solidFill>
                  <a:srgbClr val="4ADE80"/>
                </a:solidFill>
              </a:defRPr>
            </a:pPr>
            <a:r>
              <a:t>Our Safe 4-Step Handover Protocol</a:t>
            </a:r>
          </a:p>
          <a:p>
            <a:pPr>
              <a:spcBef>
                <a:spcPts val="800"/>
              </a:spcBef>
              <a:defRPr sz="1150">
                <a:solidFill>
                  <a:srgbClr val="E2E8F0"/>
                </a:solidFill>
              </a:defRPr>
            </a:pPr>
            <a:r>
              <a:t>• Phase 01 · Escrow Deposit: Buyer deposits 100% of purchase funds ($380,000) into vvEntra escrow before any code moves.</a:t>
            </a:r>
          </a:p>
          <a:p>
            <a:pPr>
              <a:spcBef>
                <a:spcPts val="800"/>
              </a:spcBef>
              <a:defRPr sz="1150">
                <a:solidFill>
                  <a:srgbClr val="E2E8F0"/>
                </a:solidFill>
              </a:defRPr>
            </a:pPr>
            <a:r>
              <a:t>• Phase 02 · Code &amp; Cloud Lock: Seller safely transfers the GitHub code repository and AWS/cloud servers into safe custody.</a:t>
            </a:r>
          </a:p>
          <a:p>
            <a:pPr>
              <a:spcBef>
                <a:spcPts val="800"/>
              </a:spcBef>
              <a:defRPr sz="1150">
                <a:solidFill>
                  <a:srgbClr val="E2E8F0"/>
                </a:solidFill>
              </a:defRPr>
            </a:pPr>
            <a:r>
              <a:t>• Phase 03 · Domain Migration: Website domain name and live traffic are moved to the buyer with zero downtime.</a:t>
            </a:r>
          </a:p>
          <a:p>
            <a:pPr>
              <a:spcBef>
                <a:spcPts val="800"/>
              </a:spcBef>
              <a:defRPr sz="1150">
                <a:solidFill>
                  <a:srgbClr val="E2E8F0"/>
                </a:solidFill>
              </a:defRPr>
            </a:pPr>
            <a:r>
              <a:t>• Phase 04 · Testing &amp; Payout: Buyer tests the app; once confirmed, seller receives 90% ($342,000) and vvEntra retains 10% ($38,000).</a:t>
            </a:r>
          </a:p>
          <a:p>
            <a:pPr>
              <a:spcBef>
                <a:spcPts val="800"/>
              </a:spcBef>
              <a:defRPr sz="1150">
                <a:solidFill>
                  <a:srgbClr val="E2E8F0"/>
                </a:solidFill>
              </a:defRPr>
            </a:pPr>
            <a:r>
              <a:t>• Live Interactive Simulator: A live simulator on every listing lets users click and watch the 4 steps happen in real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4572000" cy="320040"/>
          </a:xfrm>
          <a:prstGeom prst="rect">
            <a:avLst/>
          </a:prstGeom>
          <a:noFill/>
        </p:spPr>
        <p:txBody>
          <a:bodyPr wrap="none">
            <a:spAutoFit/>
          </a:bodyPr>
          <a:lstStyle/>
          <a:p>
            <a:pPr>
              <a:defRPr sz="1000" b="1">
                <a:solidFill>
                  <a:srgbClr val="38BDF8"/>
                </a:solidFill>
              </a:defRPr>
            </a:pPr>
            <a:r>
              <a:t>SLIDE 05 · VVENTRA OVERVIEW</a:t>
            </a:r>
          </a:p>
        </p:txBody>
      </p:sp>
      <p:sp>
        <p:nvSpPr>
          <p:cNvPr id="4" name="TextBox 3"/>
          <p:cNvSpPr txBox="1"/>
          <p:nvPr/>
        </p:nvSpPr>
        <p:spPr>
          <a:xfrm>
            <a:off x="822960" y="777240"/>
            <a:ext cx="10515600" cy="594360"/>
          </a:xfrm>
          <a:prstGeom prst="rect">
            <a:avLst/>
          </a:prstGeom>
          <a:noFill/>
        </p:spPr>
        <p:txBody>
          <a:bodyPr wrap="none">
            <a:spAutoFit/>
          </a:bodyPr>
          <a:lstStyle/>
          <a:p>
            <a:pPr>
              <a:defRPr sz="2400" b="1">
                <a:solidFill>
                  <a:srgbClr val="FFFFFF"/>
                </a:solidFill>
              </a:defRPr>
            </a:pPr>
            <a:r>
              <a:t>Conclusion &amp; Key Learnings</a:t>
            </a:r>
          </a:p>
        </p:txBody>
      </p:sp>
      <p:sp>
        <p:nvSpPr>
          <p:cNvPr id="5" name="TextBox 4"/>
          <p:cNvSpPr txBox="1"/>
          <p:nvPr/>
        </p:nvSpPr>
        <p:spPr>
          <a:xfrm>
            <a:off x="822960" y="1325880"/>
            <a:ext cx="10515600" cy="411480"/>
          </a:xfrm>
          <a:prstGeom prst="rect">
            <a:avLst/>
          </a:prstGeom>
          <a:noFill/>
        </p:spPr>
        <p:txBody>
          <a:bodyPr wrap="none">
            <a:spAutoFit/>
          </a:bodyPr>
          <a:lstStyle/>
          <a:p>
            <a:pPr>
              <a:defRPr sz="1200">
                <a:solidFill>
                  <a:srgbClr val="94A3B8"/>
                </a:solidFill>
              </a:defRPr>
            </a:pPr>
            <a:r>
              <a:t>The three main lessons learned while building this platform.</a:t>
            </a:r>
          </a:p>
        </p:txBody>
      </p:sp>
      <p:sp>
        <p:nvSpPr>
          <p:cNvPr id="6" name="Rounded Rectangle 5"/>
          <p:cNvSpPr/>
          <p:nvPr/>
        </p:nvSpPr>
        <p:spPr>
          <a:xfrm>
            <a:off x="822960" y="1920240"/>
            <a:ext cx="329184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48840"/>
            <a:ext cx="2743200" cy="3840480"/>
          </a:xfrm>
          <a:prstGeom prst="rect">
            <a:avLst/>
          </a:prstGeom>
          <a:noFill/>
        </p:spPr>
        <p:txBody>
          <a:bodyPr wrap="square">
            <a:spAutoFit/>
          </a:bodyPr>
          <a:lstStyle/>
          <a:p>
            <a:pPr>
              <a:defRPr sz="1500" b="1">
                <a:solidFill>
                  <a:srgbClr val="38BDF8"/>
                </a:solidFill>
              </a:defRPr>
            </a:pPr>
            <a:r>
              <a:t>1. Simple Code is Fast</a:t>
            </a:r>
          </a:p>
          <a:p>
            <a:pPr>
              <a:spcBef>
                <a:spcPts val="800"/>
              </a:spcBef>
              <a:defRPr sz="1150">
                <a:solidFill>
                  <a:srgbClr val="E2E8F0"/>
                </a:solidFill>
              </a:defRPr>
            </a:pPr>
            <a:r>
              <a:t>• We didn't need big frameworks like React to build an interactive multi-page website.</a:t>
            </a:r>
          </a:p>
          <a:p>
            <a:pPr>
              <a:spcBef>
                <a:spcPts val="800"/>
              </a:spcBef>
              <a:defRPr sz="1150">
                <a:solidFill>
                  <a:srgbClr val="E2E8F0"/>
                </a:solidFill>
              </a:defRPr>
            </a:pPr>
            <a:r>
              <a:t>• Pure HTML, CSS, and Vanilla JavaScript loaded in under 120ms with zero extra installs.</a:t>
            </a:r>
          </a:p>
          <a:p>
            <a:pPr>
              <a:spcBef>
                <a:spcPts val="800"/>
              </a:spcBef>
              <a:defRPr sz="1150">
                <a:solidFill>
                  <a:srgbClr val="E2E8F0"/>
                </a:solidFill>
              </a:defRPr>
            </a:pPr>
            <a:r>
              <a:t>• Fewer libraries mean fewer bugs, zero security warnings, and zero maintenance headaches.</a:t>
            </a:r>
          </a:p>
        </p:txBody>
      </p:sp>
      <p:sp>
        <p:nvSpPr>
          <p:cNvPr id="8" name="Rounded Rectangle 7"/>
          <p:cNvSpPr/>
          <p:nvPr/>
        </p:nvSpPr>
        <p:spPr>
          <a:xfrm>
            <a:off x="4443984" y="1920240"/>
            <a:ext cx="329184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8304" y="2148840"/>
            <a:ext cx="2743200" cy="3840480"/>
          </a:xfrm>
          <a:prstGeom prst="rect">
            <a:avLst/>
          </a:prstGeom>
          <a:noFill/>
        </p:spPr>
        <p:txBody>
          <a:bodyPr wrap="square">
            <a:spAutoFit/>
          </a:bodyPr>
          <a:lstStyle/>
          <a:p>
            <a:pPr>
              <a:defRPr sz="1500" b="1">
                <a:solidFill>
                  <a:srgbClr val="4ADE80"/>
                </a:solidFill>
              </a:defRPr>
            </a:pPr>
            <a:r>
              <a:t>2. Clear Info Builds Trust</a:t>
            </a:r>
          </a:p>
          <a:p>
            <a:pPr>
              <a:spcBef>
                <a:spcPts val="800"/>
              </a:spcBef>
              <a:defRPr sz="1150">
                <a:solidFill>
                  <a:srgbClr val="E2E8F0"/>
                </a:solidFill>
              </a:defRPr>
            </a:pPr>
            <a:r>
              <a:t>• In business and finance, people care about honest numbers, not glowing neon buttons.</a:t>
            </a:r>
          </a:p>
          <a:p>
            <a:pPr>
              <a:spcBef>
                <a:spcPts val="800"/>
              </a:spcBef>
              <a:defRPr sz="1150">
                <a:solidFill>
                  <a:srgbClr val="E2E8F0"/>
                </a:solidFill>
              </a:defRPr>
            </a:pPr>
            <a:r>
              <a:t>• Clean tables, verified Stripe data, and clear fee breakdowns build real confidence with buyers and sellers.</a:t>
            </a:r>
          </a:p>
          <a:p>
            <a:pPr>
              <a:spcBef>
                <a:spcPts val="800"/>
              </a:spcBef>
              <a:defRPr sz="1150">
                <a:solidFill>
                  <a:srgbClr val="E2E8F0"/>
                </a:solidFill>
              </a:defRPr>
            </a:pPr>
            <a:r>
              <a:t>• Simple, plain design looks far more serious and professional.</a:t>
            </a:r>
          </a:p>
        </p:txBody>
      </p:sp>
      <p:sp>
        <p:nvSpPr>
          <p:cNvPr id="10" name="Rounded Rectangle 9"/>
          <p:cNvSpPr/>
          <p:nvPr/>
        </p:nvSpPr>
        <p:spPr>
          <a:xfrm>
            <a:off x="8074152" y="1920240"/>
            <a:ext cx="3291840" cy="4297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8472" y="2148840"/>
            <a:ext cx="2743200" cy="3840480"/>
          </a:xfrm>
          <a:prstGeom prst="rect">
            <a:avLst/>
          </a:prstGeom>
          <a:noFill/>
        </p:spPr>
        <p:txBody>
          <a:bodyPr wrap="square">
            <a:spAutoFit/>
          </a:bodyPr>
          <a:lstStyle/>
          <a:p>
            <a:pPr>
              <a:defRPr sz="1500" b="1">
                <a:solidFill>
                  <a:srgbClr val="FBBF24"/>
                </a:solidFill>
              </a:defRPr>
            </a:pPr>
            <a:r>
              <a:t>3. Safety is What Sells</a:t>
            </a:r>
          </a:p>
          <a:p>
            <a:pPr>
              <a:spcBef>
                <a:spcPts val="800"/>
              </a:spcBef>
              <a:defRPr sz="1150">
                <a:solidFill>
                  <a:srgbClr val="E2E8F0"/>
                </a:solidFill>
              </a:defRPr>
            </a:pPr>
            <a:r>
              <a:t>• Anyone can build a website that lists software for sale.</a:t>
            </a:r>
          </a:p>
          <a:p>
            <a:pPr>
              <a:spcBef>
                <a:spcPts val="800"/>
              </a:spcBef>
              <a:defRPr sz="1150">
                <a:solidFill>
                  <a:srgbClr val="E2E8F0"/>
                </a:solidFill>
              </a:defRPr>
            </a:pPr>
            <a:r>
              <a:t>• The real commercial value is making sure nobody gets scammed when handing over code and money.</a:t>
            </a:r>
          </a:p>
          <a:p>
            <a:pPr>
              <a:spcBef>
                <a:spcPts val="800"/>
              </a:spcBef>
              <a:defRPr sz="1150">
                <a:solidFill>
                  <a:srgbClr val="E2E8F0"/>
                </a:solidFill>
              </a:defRPr>
            </a:pPr>
            <a:r>
              <a:t>• Building the safe 4-step handover is what makes this platform genuinely useful and valuable.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