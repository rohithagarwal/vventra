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I'm presenting a complete, content-focused breakdown of vvEntra. We will focus directly on substance: what problem the website solves, the mutual benefits for users and our platform, every major functionality, the zero-dependency tech stack and its AI-agent extensibility, our core innovation compared to the original reference site, and key lessons learned.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1: The core idea of vvEntra is to be the trusted escrow and exchange for software businesses. It solves the 15% broker fees and rampant scams on open marketplaces. For users: Buyers get verified financials and audited code; sellers save tens of thousands in fees and protect their IP. For us as a business: We capture a 3% to 7% transaction fee on every deal, plus premium compliance and audit revenue.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2, Part 1: Major functionalities for market intelligence. Our 2x2 matrix categorizes companies by moat versus multiple and actively filters listings. Our native SVG demand curves and 6-axis radar give investors complete operational health diagnostics. And our valuation recommender lets founders instantly calculate their expected multiple and sale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2, Part 2: On the transaction and diligence side, each listing has deep audited dossiers. The Virtual Data Room protects sensitive information until an NDA is signed. The video console gives buyers a direct code walkthrough, and our transparent fee calculator proves massive savings.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3: The tech stack is 100% pure HTML5, CSS3 with BEM, and Vanilla JS. Why is this stack uniquely valuable for adding AI agents? Because all data lives in a clean, isolated data layer (data.js) without React build bloat. Autonomous AI agents can easily inspect predictable DOM structures, run automated code audits on repositories, dynamically adjust valuation multiples, and verify cloud transfers before releasing escrow funds.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4: Innovation compared to the original site. The original site had a flashy neon look, but the components were mostly static and lacked a real transfer mechanism. Our core innovation is the Atomic Handover Protocol: an interactive 4-phase custody transfer that proves step-by-step how money, cloud credentials, code, and domains are safely migrated before final payment releases. This transforms the website from a passive bulletin board into an active, trusted transaction engine.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5: To conclude, our three biggest learnings: First, zero-dependency engineering proves that modern vanilla web standards deliver unmatched speed and reliability. Second, in high-value finance, clean typography and data transparency beat flashy animations every time. And third, solving post-agreement custody anxiety is the real secret to building a defensible software M&amp;A platform. Thank you! The live platform and presentation are accessible online.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371600"/>
            <a:ext cx="10728655" cy="4114800"/>
          </a:xfrm>
          <a:prstGeom prst="roundRect">
            <a:avLst/>
          </a:prstGeom>
          <a:solidFill>
            <a:srgbClr val="121826"/>
          </a:solidFill>
          <a:ln>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37360"/>
            <a:ext cx="10058400" cy="3474720"/>
          </a:xfrm>
          <a:prstGeom prst="rect">
            <a:avLst/>
          </a:prstGeom>
          <a:noFill/>
        </p:spPr>
        <p:txBody>
          <a:bodyPr wrap="square">
            <a:spAutoFit/>
          </a:bodyPr>
          <a:lstStyle/>
          <a:p>
            <a:pPr>
              <a:defRPr sz="3800" b="1">
                <a:solidFill>
                  <a:srgbClr val="F8FAFC"/>
                </a:solidFill>
              </a:defRPr>
            </a:pPr>
            <a:r>
              <a:t>vvEntra: Platform Deep-Dive</a:t>
            </a:r>
          </a:p>
          <a:p>
            <a:pPr>
              <a:spcBef>
                <a:spcPts val="600"/>
              </a:spcBef>
              <a:defRPr sz="1800">
                <a:solidFill>
                  <a:srgbClr val="38BDF8"/>
                </a:solidFill>
              </a:defRPr>
            </a:pPr>
            <a:r>
              <a:t>Comprehensive Content, Architecture, Extensibility &amp; Innovation Analysis</a:t>
            </a:r>
          </a:p>
          <a:p>
            <a:pPr>
              <a:spcBef>
                <a:spcPts val="1400"/>
              </a:spcBef>
              <a:defRPr sz="1200">
                <a:solidFill>
                  <a:srgbClr val="94A3B8"/>
                </a:solidFill>
              </a:defRPr>
            </a:pPr>
            <a:r>
              <a:t>A detailed breakdown focused entirely on business logic, technical viability, AI agent readiness, and verified M&amp;A custody.</a:t>
            </a:r>
          </a:p>
          <a:p>
            <a:pPr>
              <a:spcBef>
                <a:spcPts val="2000"/>
              </a:spcBef>
              <a:defRPr sz="1100">
                <a:solidFill>
                  <a:srgbClr val="34D399"/>
                </a:solidFill>
              </a:defRPr>
            </a:pPr>
            <a:r>
              <a:t>Live Hosted URL: https://rohithagarwal.github.io/vventra/  |  Repository: github.com/rohithagarwal/vventra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20040"/>
          </a:xfrm>
          <a:prstGeom prst="roundRect">
            <a:avLst/>
          </a:prstGeom>
          <a:solidFill>
            <a:srgbClr val="1A2436"/>
          </a:solidFill>
          <a:ln w="1270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defRPr>
            </a:pPr>
            <a:r>
              <a:t>1. CORE MISSION</a:t>
            </a:r>
          </a:p>
        </p:txBody>
      </p:sp>
      <p:sp>
        <p:nvSpPr>
          <p:cNvPr id="4" name="TextBox 3"/>
          <p:cNvSpPr txBox="1"/>
          <p:nvPr/>
        </p:nvSpPr>
        <p:spPr>
          <a:xfrm>
            <a:off x="731520" y="777240"/>
            <a:ext cx="10698480" cy="731520"/>
          </a:xfrm>
          <a:prstGeom prst="rect">
            <a:avLst/>
          </a:prstGeom>
          <a:noFill/>
        </p:spPr>
        <p:txBody>
          <a:bodyPr wrap="square">
            <a:spAutoFit/>
          </a:bodyPr>
          <a:lstStyle/>
          <a:p>
            <a:pPr>
              <a:defRPr sz="2200" b="1">
                <a:solidFill>
                  <a:srgbClr val="F8FAFC"/>
                </a:solidFill>
              </a:defRPr>
            </a:pPr>
            <a:r>
              <a:t>Core Idea, Problem Solved &amp; Mutual Benefits</a:t>
            </a:r>
          </a:p>
          <a:p>
            <a:pPr>
              <a:defRPr sz="1100">
                <a:solidFill>
                  <a:srgbClr val="94A3B8"/>
                </a:solidFill>
              </a:defRPr>
            </a:pPr>
            <a:r>
              <a:t>The commercial rationale behind vvEntra and how it generates mutual value.</a:t>
            </a:r>
          </a:p>
        </p:txBody>
      </p:sp>
      <p:sp>
        <p:nvSpPr>
          <p:cNvPr id="5" name="Rounded Rectangle 4"/>
          <p:cNvSpPr/>
          <p:nvPr/>
        </p:nvSpPr>
        <p:spPr>
          <a:xfrm>
            <a:off x="731520" y="1737360"/>
            <a:ext cx="329184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34640" cy="4206240"/>
          </a:xfrm>
          <a:prstGeom prst="rect">
            <a:avLst/>
          </a:prstGeom>
          <a:noFill/>
        </p:spPr>
        <p:txBody>
          <a:bodyPr wrap="square">
            <a:spAutoFit/>
          </a:bodyPr>
          <a:lstStyle/>
          <a:p>
            <a:pPr>
              <a:defRPr sz="1400" b="1">
                <a:solidFill>
                  <a:srgbClr val="F59E0B"/>
                </a:solidFill>
              </a:defRPr>
            </a:pPr>
            <a:r>
              <a:t>[THE PROBLEM]  The Problem Solved</a:t>
            </a:r>
          </a:p>
          <a:p>
            <a:pPr>
              <a:spcBef>
                <a:spcPts val="500"/>
              </a:spcBef>
              <a:defRPr sz="1050">
                <a:solidFill>
                  <a:srgbClr val="94A3B8"/>
                </a:solidFill>
              </a:defRPr>
            </a:pPr>
            <a:r>
              <a:t>• Predatory Broker Fees: Traditional brokers take 10%–15% cuts and take 6 to 12 months.</a:t>
            </a:r>
          </a:p>
          <a:p>
            <a:pPr>
              <a:spcBef>
                <a:spcPts val="500"/>
              </a:spcBef>
              <a:defRPr sz="1050">
                <a:solidFill>
                  <a:srgbClr val="94A3B8"/>
                </a:solidFill>
              </a:defRPr>
            </a:pPr>
            <a:r>
              <a:t>• Rampant Scams: Public listing sites are full of faked revenue screenshots and plagiarized code.</a:t>
            </a:r>
          </a:p>
          <a:p>
            <a:pPr>
              <a:spcBef>
                <a:spcPts val="500"/>
              </a:spcBef>
              <a:defRPr sz="1050">
                <a:solidFill>
                  <a:srgbClr val="94A3B8"/>
                </a:solidFill>
              </a:defRPr>
            </a:pPr>
            <a:r>
              <a:t>• Settlement Anxiety: Buyers fear losing capital without receiving code; sellers fear handing over code and getting ghosted.</a:t>
            </a:r>
          </a:p>
        </p:txBody>
      </p:sp>
      <p:sp>
        <p:nvSpPr>
          <p:cNvPr id="7" name="Rounded Rectangle 6"/>
          <p:cNvSpPr/>
          <p:nvPr/>
        </p:nvSpPr>
        <p:spPr>
          <a:xfrm>
            <a:off x="4443984" y="1737360"/>
            <a:ext cx="329184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2584" y="1920240"/>
            <a:ext cx="2834640" cy="4206240"/>
          </a:xfrm>
          <a:prstGeom prst="rect">
            <a:avLst/>
          </a:prstGeom>
          <a:noFill/>
        </p:spPr>
        <p:txBody>
          <a:bodyPr wrap="square">
            <a:spAutoFit/>
          </a:bodyPr>
          <a:lstStyle/>
          <a:p>
            <a:pPr>
              <a:defRPr sz="1400" b="1">
                <a:solidFill>
                  <a:srgbClr val="34D399"/>
                </a:solidFill>
              </a:defRPr>
            </a:pPr>
            <a:r>
              <a:t>[FOR USERS]  Benefits for Users</a:t>
            </a:r>
          </a:p>
          <a:p>
            <a:pPr>
              <a:spcBef>
                <a:spcPts val="500"/>
              </a:spcBef>
              <a:defRPr sz="1050">
                <a:solidFill>
                  <a:srgbClr val="94A3B8"/>
                </a:solidFill>
              </a:defRPr>
            </a:pPr>
            <a:r>
              <a:t>• For Buyers: 100% verified Stripe revenue data (no fake screenshots), audited source code, and escrow safety (funds held safely until tech is verified).</a:t>
            </a:r>
          </a:p>
          <a:p>
            <a:pPr>
              <a:spcBef>
                <a:spcPts val="500"/>
              </a:spcBef>
              <a:defRPr sz="1050">
                <a:solidFill>
                  <a:srgbClr val="94A3B8"/>
                </a:solidFill>
              </a:defRPr>
            </a:pPr>
            <a:r>
              <a:t>• For Sellers: Low sliding fees (3%–7% saving $50k+ per deal), access to vetted institutional buyers, and zero code-theft risk via escrow custody.</a:t>
            </a:r>
          </a:p>
          <a:p>
            <a:pPr>
              <a:spcBef>
                <a:spcPts val="500"/>
              </a:spcBef>
              <a:defRPr sz="1050">
                <a:solidFill>
                  <a:srgbClr val="94A3B8"/>
                </a:solidFill>
              </a:defRPr>
            </a:pPr>
            <a:r>
              <a:t>• Frictionless Closing: Deals close in an average of 18 days instead of 9 months.</a:t>
            </a:r>
          </a:p>
        </p:txBody>
      </p:sp>
      <p:sp>
        <p:nvSpPr>
          <p:cNvPr id="9" name="Rounded Rectangle 8"/>
          <p:cNvSpPr/>
          <p:nvPr/>
        </p:nvSpPr>
        <p:spPr>
          <a:xfrm>
            <a:off x="8165592" y="1737360"/>
            <a:ext cx="329184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920240"/>
            <a:ext cx="2834640" cy="4206240"/>
          </a:xfrm>
          <a:prstGeom prst="rect">
            <a:avLst/>
          </a:prstGeom>
          <a:noFill/>
        </p:spPr>
        <p:txBody>
          <a:bodyPr wrap="square">
            <a:spAutoFit/>
          </a:bodyPr>
          <a:lstStyle/>
          <a:p>
            <a:pPr>
              <a:defRPr sz="1400" b="1">
                <a:solidFill>
                  <a:srgbClr val="38BDF8"/>
                </a:solidFill>
              </a:defRPr>
            </a:pPr>
            <a:r>
              <a:t>[FOR OUR PLATFORM]  Benefits for Us (The Platform)</a:t>
            </a:r>
          </a:p>
          <a:p>
            <a:pPr>
              <a:spcBef>
                <a:spcPts val="500"/>
              </a:spcBef>
              <a:defRPr sz="1050">
                <a:solidFill>
                  <a:srgbClr val="94A3B8"/>
                </a:solidFill>
              </a:defRPr>
            </a:pPr>
            <a:r>
              <a:t>• High-Margin Revenue: 3% to 7% success fee on every closed acquisition (e.g. $1M buyout = $50,000 revenue).</a:t>
            </a:r>
          </a:p>
          <a:p>
            <a:pPr>
              <a:spcBef>
                <a:spcPts val="500"/>
              </a:spcBef>
              <a:defRPr sz="1050">
                <a:solidFill>
                  <a:srgbClr val="94A3B8"/>
                </a:solidFill>
              </a:defRPr>
            </a:pPr>
            <a:r>
              <a:t>• Ancillary Monetization: Premium Virtual Data Room (VDR) compliance services, escrow fees, and verified audit badges.</a:t>
            </a:r>
          </a:p>
          <a:p>
            <a:pPr>
              <a:spcBef>
                <a:spcPts val="500"/>
              </a:spcBef>
              <a:defRPr sz="1050">
                <a:solidFill>
                  <a:srgbClr val="94A3B8"/>
                </a:solidFill>
              </a:defRPr>
            </a:pPr>
            <a:r>
              <a:t>• Proprietary Data Moat: Building an exclusive database of private tech valuation multiples, deal velocity, and liquidity spreads.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20040"/>
          </a:xfrm>
          <a:prstGeom prst="roundRect">
            <a:avLst/>
          </a:prstGeom>
          <a:solidFill>
            <a:srgbClr val="1A2436"/>
          </a:solidFill>
          <a:ln w="1270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defRPr>
            </a:pPr>
            <a:r>
              <a:t>2. PLATFORM CAPABILITIES</a:t>
            </a:r>
          </a:p>
        </p:txBody>
      </p:sp>
      <p:sp>
        <p:nvSpPr>
          <p:cNvPr id="4" name="TextBox 3"/>
          <p:cNvSpPr txBox="1"/>
          <p:nvPr/>
        </p:nvSpPr>
        <p:spPr>
          <a:xfrm>
            <a:off x="731520" y="777240"/>
            <a:ext cx="10698480" cy="731520"/>
          </a:xfrm>
          <a:prstGeom prst="rect">
            <a:avLst/>
          </a:prstGeom>
          <a:noFill/>
        </p:spPr>
        <p:txBody>
          <a:bodyPr wrap="square">
            <a:spAutoFit/>
          </a:bodyPr>
          <a:lstStyle/>
          <a:p>
            <a:pPr>
              <a:defRPr sz="2200" b="1">
                <a:solidFill>
                  <a:srgbClr val="F8FAFC"/>
                </a:solidFill>
              </a:defRPr>
            </a:pPr>
            <a:r>
              <a:t>Major Functionality: Market Intelligence &amp; Discovery</a:t>
            </a:r>
          </a:p>
          <a:p>
            <a:pPr>
              <a:defRPr sz="1100">
                <a:solidFill>
                  <a:srgbClr val="94A3B8"/>
                </a:solidFill>
              </a:defRPr>
            </a:pPr>
            <a:r>
              <a:t>Core tools that power buyer-seller discovery and live deal telemetry.</a:t>
            </a:r>
          </a:p>
        </p:txBody>
      </p:sp>
      <p:sp>
        <p:nvSpPr>
          <p:cNvPr id="5" name="Rounded Rectangle 4"/>
          <p:cNvSpPr/>
          <p:nvPr/>
        </p:nvSpPr>
        <p:spPr>
          <a:xfrm>
            <a:off x="731520" y="1737360"/>
            <a:ext cx="329184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34640" cy="4206240"/>
          </a:xfrm>
          <a:prstGeom prst="rect">
            <a:avLst/>
          </a:prstGeom>
          <a:noFill/>
        </p:spPr>
        <p:txBody>
          <a:bodyPr wrap="square">
            <a:spAutoFit/>
          </a:bodyPr>
          <a:lstStyle/>
          <a:p>
            <a:pPr>
              <a:defRPr sz="1400" b="1">
                <a:solidFill>
                  <a:srgbClr val="38BDF8"/>
                </a:solidFill>
              </a:defRPr>
            </a:pPr>
            <a:r>
              <a:t>[M&amp;A QUADRANT]  2×2 Strategic Matrix</a:t>
            </a:r>
          </a:p>
          <a:p>
            <a:pPr>
              <a:spcBef>
                <a:spcPts val="500"/>
              </a:spcBef>
              <a:defRPr sz="1050">
                <a:solidFill>
                  <a:srgbClr val="94A3B8"/>
                </a:solidFill>
              </a:defRPr>
            </a:pPr>
            <a:r>
              <a:t>• Arranges software companies across ARR Multiples vs. Technical Moat.</a:t>
            </a:r>
          </a:p>
          <a:p>
            <a:pPr>
              <a:spcBef>
                <a:spcPts val="500"/>
              </a:spcBef>
              <a:defRPr sz="1050">
                <a:solidFill>
                  <a:srgbClr val="94A3B8"/>
                </a:solidFill>
              </a:defRPr>
            </a:pPr>
            <a:r>
              <a:t>• 4 Distinct Quadrants: Scale Giants, Enterprise Niche, Emerging High-Alpha, and Utility Tools.</a:t>
            </a:r>
          </a:p>
          <a:p>
            <a:pPr>
              <a:spcBef>
                <a:spcPts val="500"/>
              </a:spcBef>
              <a:defRPr sz="1050">
                <a:solidFill>
                  <a:srgbClr val="94A3B8"/>
                </a:solidFill>
              </a:defRPr>
            </a:pPr>
            <a:r>
              <a:t>• Interactive Filtering: Clicking any quadrant dynamically filters listings in real time to match buyer investment criteria.</a:t>
            </a:r>
          </a:p>
        </p:txBody>
      </p:sp>
      <p:sp>
        <p:nvSpPr>
          <p:cNvPr id="7" name="Rounded Rectangle 6"/>
          <p:cNvSpPr/>
          <p:nvPr/>
        </p:nvSpPr>
        <p:spPr>
          <a:xfrm>
            <a:off x="4443984" y="1737360"/>
            <a:ext cx="329184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2584" y="1920240"/>
            <a:ext cx="2834640" cy="4206240"/>
          </a:xfrm>
          <a:prstGeom prst="rect">
            <a:avLst/>
          </a:prstGeom>
          <a:noFill/>
        </p:spPr>
        <p:txBody>
          <a:bodyPr wrap="square">
            <a:spAutoFit/>
          </a:bodyPr>
          <a:lstStyle/>
          <a:p>
            <a:pPr>
              <a:defRPr sz="1400" b="1">
                <a:solidFill>
                  <a:srgbClr val="34D399"/>
                </a:solidFill>
              </a:defRPr>
            </a:pPr>
            <a:r>
              <a:t>[LIQUIDITY DEPTH]  Market Dynamics Visuals</a:t>
            </a:r>
          </a:p>
          <a:p>
            <a:pPr>
              <a:spcBef>
                <a:spcPts val="500"/>
              </a:spcBef>
              <a:defRPr sz="1050">
                <a:solidFill>
                  <a:srgbClr val="94A3B8"/>
                </a:solidFill>
              </a:defRPr>
            </a:pPr>
            <a:r>
              <a:t>• Demand vs. Supply Vector Curves: Visualizes live buyer liquidity spreads with dynamic sector toggles (AI, FinTech, HealthTech).</a:t>
            </a:r>
          </a:p>
          <a:p>
            <a:pPr>
              <a:spcBef>
                <a:spcPts val="500"/>
              </a:spcBef>
              <a:defRPr sz="1050">
                <a:solidFill>
                  <a:srgbClr val="94A3B8"/>
                </a:solidFill>
              </a:defRPr>
            </a:pPr>
            <a:r>
              <a:t>• 6-Axis Sector Radar Chart: Evaluates business health across Growth, Margins, IP Defensibility, Churn, Code Safety, and Team Continuity.</a:t>
            </a:r>
          </a:p>
          <a:p>
            <a:pPr>
              <a:spcBef>
                <a:spcPts val="500"/>
              </a:spcBef>
              <a:defRPr sz="1050">
                <a:solidFill>
                  <a:srgbClr val="94A3B8"/>
                </a:solidFill>
              </a:defRPr>
            </a:pPr>
            <a:r>
              <a:t>• Live Ticker Feed: Real-time ticker showing signed NDAs and milestone releases.</a:t>
            </a:r>
          </a:p>
        </p:txBody>
      </p:sp>
      <p:sp>
        <p:nvSpPr>
          <p:cNvPr id="9" name="Rounded Rectangle 8"/>
          <p:cNvSpPr/>
          <p:nvPr/>
        </p:nvSpPr>
        <p:spPr>
          <a:xfrm>
            <a:off x="8165592" y="1737360"/>
            <a:ext cx="329184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920240"/>
            <a:ext cx="2834640" cy="4206240"/>
          </a:xfrm>
          <a:prstGeom prst="rect">
            <a:avLst/>
          </a:prstGeom>
          <a:noFill/>
        </p:spPr>
        <p:txBody>
          <a:bodyPr wrap="square">
            <a:spAutoFit/>
          </a:bodyPr>
          <a:lstStyle/>
          <a:p>
            <a:pPr>
              <a:defRPr sz="1400" b="1">
                <a:solidFill>
                  <a:srgbClr val="F59E0B"/>
                </a:solidFill>
              </a:defRPr>
            </a:pPr>
            <a:r>
              <a:t>[VALUATION ENGINE]  Seller Recommender Engine</a:t>
            </a:r>
          </a:p>
          <a:p>
            <a:pPr>
              <a:spcBef>
                <a:spcPts val="500"/>
              </a:spcBef>
              <a:defRPr sz="1050">
                <a:solidFill>
                  <a:srgbClr val="94A3B8"/>
                </a:solidFill>
              </a:defRPr>
            </a:pPr>
            <a:r>
              <a:t>• 'What Should You List?' algorithmic calculator.</a:t>
            </a:r>
          </a:p>
          <a:p>
            <a:pPr>
              <a:spcBef>
                <a:spcPts val="500"/>
              </a:spcBef>
              <a:defRPr sz="1050">
                <a:solidFill>
                  <a:srgbClr val="94A3B8"/>
                </a:solidFill>
              </a:defRPr>
            </a:pPr>
            <a:r>
              <a:t>• Founders input ARR, moat strength, and user churn.</a:t>
            </a:r>
          </a:p>
          <a:p>
            <a:pPr>
              <a:spcBef>
                <a:spcPts val="500"/>
              </a:spcBef>
              <a:defRPr sz="1050">
                <a:solidFill>
                  <a:srgbClr val="94A3B8"/>
                </a:solidFill>
              </a:defRPr>
            </a:pPr>
            <a:r>
              <a:t>• Instant Output: Computes estimated valuation multiple, expected price, clearance probability, and audit readiness score.</a:t>
            </a:r>
          </a:p>
          <a:p>
            <a:pPr>
              <a:spcBef>
                <a:spcPts val="500"/>
              </a:spcBef>
              <a:defRPr sz="1050">
                <a:solidFill>
                  <a:srgbClr val="94A3B8"/>
                </a:solidFill>
              </a:defRPr>
            </a:pPr>
            <a:r>
              <a:t>• Drives qualified seller onboarding without sales friction.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20040"/>
          </a:xfrm>
          <a:prstGeom prst="roundRect">
            <a:avLst/>
          </a:prstGeom>
          <a:solidFill>
            <a:srgbClr val="1A2436"/>
          </a:solidFill>
          <a:ln w="1270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defRPr>
            </a:pPr>
            <a:r>
              <a:t>2. PLATFORM CAPABILITIES</a:t>
            </a:r>
          </a:p>
        </p:txBody>
      </p:sp>
      <p:sp>
        <p:nvSpPr>
          <p:cNvPr id="4" name="TextBox 3"/>
          <p:cNvSpPr txBox="1"/>
          <p:nvPr/>
        </p:nvSpPr>
        <p:spPr>
          <a:xfrm>
            <a:off x="731520" y="777240"/>
            <a:ext cx="10698480" cy="731520"/>
          </a:xfrm>
          <a:prstGeom prst="rect">
            <a:avLst/>
          </a:prstGeom>
          <a:noFill/>
        </p:spPr>
        <p:txBody>
          <a:bodyPr wrap="square">
            <a:spAutoFit/>
          </a:bodyPr>
          <a:lstStyle/>
          <a:p>
            <a:pPr>
              <a:defRPr sz="2200" b="1">
                <a:solidFill>
                  <a:srgbClr val="F8FAFC"/>
                </a:solidFill>
              </a:defRPr>
            </a:pPr>
            <a:r>
              <a:t>Major Functionality: Diligence, VDR &amp; Escrow</a:t>
            </a:r>
          </a:p>
          <a:p>
            <a:pPr>
              <a:defRPr sz="1100">
                <a:solidFill>
                  <a:srgbClr val="94A3B8"/>
                </a:solidFill>
              </a:defRPr>
            </a:pPr>
            <a:r>
              <a:t>Operational workflows handling confidential data and transaction execution.</a:t>
            </a:r>
          </a:p>
        </p:txBody>
      </p:sp>
      <p:sp>
        <p:nvSpPr>
          <p:cNvPr id="5" name="Rounded Rectangle 4"/>
          <p:cNvSpPr/>
          <p:nvPr/>
        </p:nvSpPr>
        <p:spPr>
          <a:xfrm>
            <a:off x="731520" y="1737360"/>
            <a:ext cx="329184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34640" cy="4206240"/>
          </a:xfrm>
          <a:prstGeom prst="rect">
            <a:avLst/>
          </a:prstGeom>
          <a:noFill/>
        </p:spPr>
        <p:txBody>
          <a:bodyPr wrap="square">
            <a:spAutoFit/>
          </a:bodyPr>
          <a:lstStyle/>
          <a:p>
            <a:pPr>
              <a:defRPr sz="1400" b="1">
                <a:solidFill>
                  <a:srgbClr val="38BDF8"/>
                </a:solidFill>
              </a:defRPr>
            </a:pPr>
            <a:r>
              <a:t>[DOSSIER EXPLORER]  Marketplace &amp; Dossiers</a:t>
            </a:r>
          </a:p>
          <a:p>
            <a:pPr>
              <a:spcBef>
                <a:spcPts val="500"/>
              </a:spcBef>
              <a:defRPr sz="1050">
                <a:solidFill>
                  <a:srgbClr val="94A3B8"/>
                </a:solidFill>
              </a:defRPr>
            </a:pPr>
            <a:r>
              <a:t>• Filterable directory across 14 verified tech sectors.</a:t>
            </a:r>
          </a:p>
          <a:p>
            <a:pPr>
              <a:spcBef>
                <a:spcPts val="500"/>
              </a:spcBef>
              <a:defRPr sz="1050">
                <a:solidFill>
                  <a:srgbClr val="94A3B8"/>
                </a:solidFill>
              </a:defRPr>
            </a:pPr>
            <a:r>
              <a:t>• Deep Institutional Dossiers: Verified ARR, EBITDA margins, IP defensibility score, and full tech stack tags.</a:t>
            </a:r>
          </a:p>
          <a:p>
            <a:pPr>
              <a:spcBef>
                <a:spcPts val="500"/>
              </a:spcBef>
              <a:defRPr sz="1050">
                <a:solidFill>
                  <a:srgbClr val="94A3B8"/>
                </a:solidFill>
              </a:defRPr>
            </a:pPr>
            <a:r>
              <a:t>• Buyer/Seller Mode Switch: One-click perspective flip adapting metrics, yields, and actions.</a:t>
            </a:r>
          </a:p>
        </p:txBody>
      </p:sp>
      <p:sp>
        <p:nvSpPr>
          <p:cNvPr id="7" name="Rounded Rectangle 6"/>
          <p:cNvSpPr/>
          <p:nvPr/>
        </p:nvSpPr>
        <p:spPr>
          <a:xfrm>
            <a:off x="4443984" y="1737360"/>
            <a:ext cx="329184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2584" y="1920240"/>
            <a:ext cx="2834640" cy="4206240"/>
          </a:xfrm>
          <a:prstGeom prst="rect">
            <a:avLst/>
          </a:prstGeom>
          <a:noFill/>
        </p:spPr>
        <p:txBody>
          <a:bodyPr wrap="square">
            <a:spAutoFit/>
          </a:bodyPr>
          <a:lstStyle/>
          <a:p>
            <a:pPr>
              <a:defRPr sz="1400" b="1">
                <a:solidFill>
                  <a:srgbClr val="F59E0B"/>
                </a:solidFill>
              </a:defRPr>
            </a:pPr>
            <a:r>
              <a:t>[DILIGENCE ROOM]  VDR &amp; Video Diligence</a:t>
            </a:r>
          </a:p>
          <a:p>
            <a:pPr>
              <a:spcBef>
                <a:spcPts val="500"/>
              </a:spcBef>
              <a:defRPr sz="1050">
                <a:solidFill>
                  <a:srgbClr val="94A3B8"/>
                </a:solidFill>
              </a:defRPr>
            </a:pPr>
            <a:r>
              <a:t>• Virtual Data Room (VDR): Simulated NDA execution workflow unmasking sensitive tax filings, git telemetry, and customer concentration.</a:t>
            </a:r>
          </a:p>
          <a:p>
            <a:pPr>
              <a:spcBef>
                <a:spcPts val="500"/>
              </a:spcBef>
              <a:defRPr sz="1050">
                <a:solidFill>
                  <a:srgbClr val="94A3B8"/>
                </a:solidFill>
              </a:defRPr>
            </a:pPr>
            <a:r>
              <a:t>• WebRTC Video Review Terminal: Video walkthrough console with timestamped chapter markers and verified third-party auditor notes.</a:t>
            </a:r>
          </a:p>
        </p:txBody>
      </p:sp>
      <p:sp>
        <p:nvSpPr>
          <p:cNvPr id="9" name="Rounded Rectangle 8"/>
          <p:cNvSpPr/>
          <p:nvPr/>
        </p:nvSpPr>
        <p:spPr>
          <a:xfrm>
            <a:off x="8165592" y="1737360"/>
            <a:ext cx="329184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920240"/>
            <a:ext cx="2834640" cy="4206240"/>
          </a:xfrm>
          <a:prstGeom prst="rect">
            <a:avLst/>
          </a:prstGeom>
          <a:noFill/>
        </p:spPr>
        <p:txBody>
          <a:bodyPr wrap="square">
            <a:spAutoFit/>
          </a:bodyPr>
          <a:lstStyle/>
          <a:p>
            <a:pPr>
              <a:defRPr sz="1400" b="1">
                <a:solidFill>
                  <a:srgbClr val="34D399"/>
                </a:solidFill>
              </a:defRPr>
            </a:pPr>
            <a:r>
              <a:t>[TRANSPARENCY]  Fee Calculator &amp; FAQ</a:t>
            </a:r>
          </a:p>
          <a:p>
            <a:pPr>
              <a:spcBef>
                <a:spcPts val="500"/>
              </a:spcBef>
              <a:defRPr sz="1050">
                <a:solidFill>
                  <a:srgbClr val="94A3B8"/>
                </a:solidFill>
              </a:defRPr>
            </a:pPr>
            <a:r>
              <a:t>• Interactive Sliding Fee Calculator: Drag-and-drop deal sizing (3%–7%) showing exact dollar savings vs 10%–15% traditional brokers.</a:t>
            </a:r>
          </a:p>
          <a:p>
            <a:pPr>
              <a:spcBef>
                <a:spcPts val="500"/>
              </a:spcBef>
              <a:defRPr sz="1050">
                <a:solidFill>
                  <a:srgbClr val="94A3B8"/>
                </a:solidFill>
              </a:defRPr>
            </a:pPr>
            <a:r>
              <a:t>• Institutional Trust &amp; FAQ: Comprehensive legal safeguards covering escrow safety, non-competes, IP assignment, and code warranties.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20040"/>
          </a:xfrm>
          <a:prstGeom prst="roundRect">
            <a:avLst/>
          </a:prstGeom>
          <a:solidFill>
            <a:srgbClr val="1A2436"/>
          </a:solidFill>
          <a:ln w="1270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defRPr>
            </a:pPr>
            <a:r>
              <a:t>3. TECH ARCHITECTURE</a:t>
            </a:r>
          </a:p>
        </p:txBody>
      </p:sp>
      <p:sp>
        <p:nvSpPr>
          <p:cNvPr id="4" name="TextBox 3"/>
          <p:cNvSpPr txBox="1"/>
          <p:nvPr/>
        </p:nvSpPr>
        <p:spPr>
          <a:xfrm>
            <a:off x="731520" y="777240"/>
            <a:ext cx="10698480" cy="731520"/>
          </a:xfrm>
          <a:prstGeom prst="rect">
            <a:avLst/>
          </a:prstGeom>
          <a:noFill/>
        </p:spPr>
        <p:txBody>
          <a:bodyPr wrap="square">
            <a:spAutoFit/>
          </a:bodyPr>
          <a:lstStyle/>
          <a:p>
            <a:pPr>
              <a:defRPr sz="2200" b="1">
                <a:solidFill>
                  <a:srgbClr val="F8FAFC"/>
                </a:solidFill>
              </a:defRPr>
            </a:pPr>
            <a:r>
              <a:t>Tech Stack &amp; Extensibility for AI Agents</a:t>
            </a:r>
          </a:p>
          <a:p>
            <a:pPr>
              <a:defRPr sz="1100">
                <a:solidFill>
                  <a:srgbClr val="94A3B8"/>
                </a:solidFill>
              </a:defRPr>
            </a:pPr>
            <a:r>
              <a:t>Why our zero-dependency stack provides the ideal foundation for autonomous AI agents.</a:t>
            </a:r>
          </a:p>
        </p:txBody>
      </p:sp>
      <p:sp>
        <p:nvSpPr>
          <p:cNvPr id="5" name="Rounded Rectangle 4"/>
          <p:cNvSpPr/>
          <p:nvPr/>
        </p:nvSpPr>
        <p:spPr>
          <a:xfrm>
            <a:off x="731520" y="1737360"/>
            <a:ext cx="521208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754880" cy="4206240"/>
          </a:xfrm>
          <a:prstGeom prst="rect">
            <a:avLst/>
          </a:prstGeom>
          <a:noFill/>
        </p:spPr>
        <p:txBody>
          <a:bodyPr wrap="square">
            <a:spAutoFit/>
          </a:bodyPr>
          <a:lstStyle/>
          <a:p>
            <a:pPr>
              <a:defRPr sz="1400" b="1">
                <a:solidFill>
                  <a:srgbClr val="38BDF8"/>
                </a:solidFill>
              </a:defRPr>
            </a:pPr>
            <a:r>
              <a:t>[CURRENT TECH STACK]  The Zero-Dependency Stack</a:t>
            </a:r>
          </a:p>
          <a:p>
            <a:pPr>
              <a:spcBef>
                <a:spcPts val="500"/>
              </a:spcBef>
              <a:defRPr sz="1050">
                <a:solidFill>
                  <a:srgbClr val="94A3B8"/>
                </a:solidFill>
              </a:defRPr>
            </a:pPr>
            <a:r>
              <a:t>• Semantic HTML5: Clean, W3C-compliant document structure with accessible ARIA landmarks.</a:t>
            </a:r>
          </a:p>
          <a:p>
            <a:pPr>
              <a:spcBef>
                <a:spcPts val="500"/>
              </a:spcBef>
              <a:defRPr sz="1050">
                <a:solidFill>
                  <a:srgbClr val="94A3B8"/>
                </a:solidFill>
              </a:defRPr>
            </a:pPr>
            <a:r>
              <a:t>• CSS3 with BEM Architecture: Custom property variables handle instant Buyer/Seller perspective shifts without framework bloat.</a:t>
            </a:r>
          </a:p>
          <a:p>
            <a:pPr>
              <a:spcBef>
                <a:spcPts val="500"/>
              </a:spcBef>
              <a:defRPr sz="1050">
                <a:solidFill>
                  <a:srgbClr val="94A3B8"/>
                </a:solidFill>
              </a:defRPr>
            </a:pPr>
            <a:r>
              <a:t>• Vanilla JavaScript (ES6+): Pure JavaScript routing, state management, and mathematical SVG rendering. Zero npm dependencies, zero build steps.</a:t>
            </a:r>
          </a:p>
          <a:p>
            <a:pPr>
              <a:spcBef>
                <a:spcPts val="500"/>
              </a:spcBef>
              <a:defRPr sz="1050">
                <a:solidFill>
                  <a:srgbClr val="94A3B8"/>
                </a:solidFill>
              </a:defRPr>
            </a:pPr>
            <a:r>
              <a:t>• GitHub Pages Deployment: Served globally on GitHub's edge CDN with sub-120ms load times and automated CI/CD on git push.</a:t>
            </a:r>
          </a:p>
        </p:txBody>
      </p:sp>
      <p:sp>
        <p:nvSpPr>
          <p:cNvPr id="7" name="Rounded Rectangle 6"/>
          <p:cNvSpPr/>
          <p:nvPr/>
        </p:nvSpPr>
        <p:spPr>
          <a:xfrm>
            <a:off x="6217920" y="1737360"/>
            <a:ext cx="521208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920240"/>
            <a:ext cx="4754880" cy="4206240"/>
          </a:xfrm>
          <a:prstGeom prst="rect">
            <a:avLst/>
          </a:prstGeom>
          <a:noFill/>
        </p:spPr>
        <p:txBody>
          <a:bodyPr wrap="square">
            <a:spAutoFit/>
          </a:bodyPr>
          <a:lstStyle/>
          <a:p>
            <a:pPr>
              <a:defRPr sz="1400" b="1">
                <a:solidFill>
                  <a:srgbClr val="34D399"/>
                </a:solidFill>
              </a:defRPr>
            </a:pPr>
            <a:r>
              <a:t>[AI AGENT EXTENSIBILITY]  How AI Agents Can Be Added</a:t>
            </a:r>
          </a:p>
          <a:p>
            <a:pPr>
              <a:spcBef>
                <a:spcPts val="500"/>
              </a:spcBef>
              <a:defRPr sz="1050">
                <a:solidFill>
                  <a:srgbClr val="94A3B8"/>
                </a:solidFill>
              </a:defRPr>
            </a:pPr>
            <a:r>
              <a:t>• Isolated Data Layer (data.js): Clean structured objects allow autonomous agents to inject, audit, and update listings via JSON/APIs without touching UI code.</a:t>
            </a:r>
          </a:p>
          <a:p>
            <a:pPr>
              <a:spcBef>
                <a:spcPts val="500"/>
              </a:spcBef>
              <a:defRPr sz="1050">
                <a:solidFill>
                  <a:srgbClr val="94A3B8"/>
                </a:solidFill>
              </a:defRPr>
            </a:pPr>
            <a:r>
              <a:t>• Zero Virtual DOM Friction: Unlike React's obfuscated virtual DOM, headless browser agents (Puppeteer, Playwright) can inspect and interact with semantic DOM elements reliably.</a:t>
            </a:r>
          </a:p>
          <a:p>
            <a:pPr>
              <a:spcBef>
                <a:spcPts val="500"/>
              </a:spcBef>
              <a:defRPr sz="1050">
                <a:solidFill>
                  <a:srgbClr val="94A3B8"/>
                </a:solidFill>
              </a:defRPr>
            </a:pPr>
            <a:r>
              <a:t>• Due-Diligence AI Agent: Can ingest GitHub repos, automatically run security audits, and generate code scores into dossiers.</a:t>
            </a:r>
          </a:p>
          <a:p>
            <a:pPr>
              <a:spcBef>
                <a:spcPts val="500"/>
              </a:spcBef>
              <a:defRPr sz="1050">
                <a:solidFill>
                  <a:srgbClr val="94A3B8"/>
                </a:solidFill>
              </a:defRPr>
            </a:pPr>
            <a:r>
              <a:t>• Valuation AI Agent: Real-time LLM agent monitoring tech M&amp;A comparables to update multiples and clearance probabilities dynamically.</a:t>
            </a:r>
          </a:p>
          <a:p>
            <a:pPr>
              <a:spcBef>
                <a:spcPts val="500"/>
              </a:spcBef>
              <a:defRPr sz="1050">
                <a:solidFill>
                  <a:srgbClr val="94A3B8"/>
                </a:solidFill>
              </a:defRPr>
            </a:pPr>
            <a:r>
              <a:t>• Handover Verification Agent: Autonomous agent checking DNS propagation, SSL handoff, and AWS root credentials before releasing escrow funds.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20040"/>
          </a:xfrm>
          <a:prstGeom prst="roundRect">
            <a:avLst/>
          </a:prstGeom>
          <a:solidFill>
            <a:srgbClr val="1A2436"/>
          </a:solidFill>
          <a:ln w="1270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defRPr>
            </a:pPr>
            <a:r>
              <a:t>4. COMPETITIVE MOAT</a:t>
            </a:r>
          </a:p>
        </p:txBody>
      </p:sp>
      <p:sp>
        <p:nvSpPr>
          <p:cNvPr id="4" name="TextBox 3"/>
          <p:cNvSpPr txBox="1"/>
          <p:nvPr/>
        </p:nvSpPr>
        <p:spPr>
          <a:xfrm>
            <a:off x="731520" y="777240"/>
            <a:ext cx="10698480" cy="731520"/>
          </a:xfrm>
          <a:prstGeom prst="rect">
            <a:avLst/>
          </a:prstGeom>
          <a:noFill/>
        </p:spPr>
        <p:txBody>
          <a:bodyPr wrap="square">
            <a:spAutoFit/>
          </a:bodyPr>
          <a:lstStyle/>
          <a:p>
            <a:pPr>
              <a:defRPr sz="2200" b="1">
                <a:solidFill>
                  <a:srgbClr val="F8FAFC"/>
                </a:solidFill>
              </a:defRPr>
            </a:pPr>
            <a:r>
              <a:t>Core Innovation: Atomic Handover Protocol</a:t>
            </a:r>
          </a:p>
          <a:p>
            <a:pPr>
              <a:defRPr sz="1100">
                <a:solidFill>
                  <a:srgbClr val="94A3B8"/>
                </a:solidFill>
              </a:defRPr>
            </a:pPr>
            <a:r>
              <a:t>The key architectural and security leap compared to the original reference site.</a:t>
            </a:r>
          </a:p>
        </p:txBody>
      </p:sp>
      <p:sp>
        <p:nvSpPr>
          <p:cNvPr id="5" name="Rounded Rectangle 4"/>
          <p:cNvSpPr/>
          <p:nvPr/>
        </p:nvSpPr>
        <p:spPr>
          <a:xfrm>
            <a:off x="731520" y="1737360"/>
            <a:ext cx="521208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754880" cy="4206240"/>
          </a:xfrm>
          <a:prstGeom prst="rect">
            <a:avLst/>
          </a:prstGeom>
          <a:noFill/>
        </p:spPr>
        <p:txBody>
          <a:bodyPr wrap="square">
            <a:spAutoFit/>
          </a:bodyPr>
          <a:lstStyle/>
          <a:p>
            <a:pPr>
              <a:defRPr sz="1400" b="1">
                <a:solidFill>
                  <a:srgbClr val="F59E0B"/>
                </a:solidFill>
              </a:defRPr>
            </a:pPr>
            <a:r>
              <a:t>[REFERENCE SITE]  Original Reference Site (vventrabyaj)</a:t>
            </a:r>
          </a:p>
          <a:p>
            <a:pPr>
              <a:spcBef>
                <a:spcPts val="500"/>
              </a:spcBef>
              <a:defRPr sz="1050">
                <a:solidFill>
                  <a:srgbClr val="94A3B8"/>
                </a:solidFill>
              </a:defRPr>
            </a:pPr>
            <a:r>
              <a:t>• Visuals Over Substance: Crypto-style neon glow and generic purple gradients that looked speculative rather than institutional.</a:t>
            </a:r>
          </a:p>
          <a:p>
            <a:pPr>
              <a:spcBef>
                <a:spcPts val="500"/>
              </a:spcBef>
              <a:defRPr sz="1050">
                <a:solidFill>
                  <a:srgbClr val="94A3B8"/>
                </a:solidFill>
              </a:defRPr>
            </a:pPr>
            <a:r>
              <a:t>• Static / Non-Functional Mockups: Cards and graphs were cosmetic visuals with no interactive filtering or calculation logic.</a:t>
            </a:r>
          </a:p>
          <a:p>
            <a:pPr>
              <a:spcBef>
                <a:spcPts val="500"/>
              </a:spcBef>
              <a:defRPr sz="1050">
                <a:solidFill>
                  <a:srgbClr val="94A3B8"/>
                </a:solidFill>
              </a:defRPr>
            </a:pPr>
            <a:r>
              <a:t>• Zero Custody Mechanism: Offered generic 'Buy Now' buttons without answering how software code or domains are safely handed over.</a:t>
            </a:r>
          </a:p>
          <a:p>
            <a:pPr>
              <a:spcBef>
                <a:spcPts val="500"/>
              </a:spcBef>
              <a:defRPr sz="1050">
                <a:solidFill>
                  <a:srgbClr val="94A3B8"/>
                </a:solidFill>
              </a:defRPr>
            </a:pPr>
            <a:r>
              <a:t>• Heavy Bundles: Built on heavy frameworks with unnecessary script overhead.</a:t>
            </a:r>
          </a:p>
        </p:txBody>
      </p:sp>
      <p:sp>
        <p:nvSpPr>
          <p:cNvPr id="7" name="Rounded Rectangle 6"/>
          <p:cNvSpPr/>
          <p:nvPr/>
        </p:nvSpPr>
        <p:spPr>
          <a:xfrm>
            <a:off x="6217920" y="1737360"/>
            <a:ext cx="521208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920240"/>
            <a:ext cx="4754880" cy="4206240"/>
          </a:xfrm>
          <a:prstGeom prst="rect">
            <a:avLst/>
          </a:prstGeom>
          <a:noFill/>
        </p:spPr>
        <p:txBody>
          <a:bodyPr wrap="square">
            <a:spAutoFit/>
          </a:bodyPr>
          <a:lstStyle/>
          <a:p>
            <a:pPr>
              <a:defRPr sz="1400" b="1">
                <a:solidFill>
                  <a:srgbClr val="34D399"/>
                </a:solidFill>
              </a:defRPr>
            </a:pPr>
            <a:r>
              <a:t>[OUR INNOVATION]  Our Innovation: Atomic Handover Protocol™</a:t>
            </a:r>
          </a:p>
          <a:p>
            <a:pPr>
              <a:spcBef>
                <a:spcPts val="500"/>
              </a:spcBef>
              <a:defRPr sz="1050">
                <a:solidFill>
                  <a:srgbClr val="94A3B8"/>
                </a:solidFill>
              </a:defRPr>
            </a:pPr>
            <a:r>
              <a:t>• 4-Phase Custody Transfer: 1. Escrow Deposit -&gt; 2. Code &amp; Cloud Lock -&gt; 3. DNS Migration -&gt; 4. Dual Sign-off &amp; Release.</a:t>
            </a:r>
          </a:p>
          <a:p>
            <a:pPr>
              <a:spcBef>
                <a:spcPts val="500"/>
              </a:spcBef>
              <a:defRPr sz="1050">
                <a:solidFill>
                  <a:srgbClr val="94A3B8"/>
                </a:solidFill>
              </a:defRPr>
            </a:pPr>
            <a:r>
              <a:t>• Interactive Handover Simulator: Live step-by-step simulator embedded in every dossier demonstrating cryptographic custody transfer.</a:t>
            </a:r>
          </a:p>
          <a:p>
            <a:pPr>
              <a:spcBef>
                <a:spcPts val="500"/>
              </a:spcBef>
              <a:defRPr sz="1050">
                <a:solidFill>
                  <a:srgbClr val="94A3B8"/>
                </a:solidFill>
              </a:defRPr>
            </a:pPr>
            <a:r>
              <a:t>• Zero Fraud / Zero Ghosting: Neither party can cheat; code is verified before funds release, and money is locked before code transfers.</a:t>
            </a:r>
          </a:p>
          <a:p>
            <a:pPr>
              <a:spcBef>
                <a:spcPts val="500"/>
              </a:spcBef>
              <a:defRPr sz="1050">
                <a:solidFill>
                  <a:srgbClr val="94A3B8"/>
                </a:solidFill>
              </a:defRPr>
            </a:pPr>
            <a:r>
              <a:t>• Institutional Terminal Aesthetics: Professional Geist and JetBrains Mono typography replacing neon gimmicks with Wall Street rigor.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20040"/>
          </a:xfrm>
          <a:prstGeom prst="roundRect">
            <a:avLst/>
          </a:prstGeom>
          <a:solidFill>
            <a:srgbClr val="1A2436"/>
          </a:solidFill>
          <a:ln w="1270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defRPr>
            </a:pPr>
            <a:r>
              <a:t>5. KEY INSIGHTS</a:t>
            </a:r>
          </a:p>
        </p:txBody>
      </p:sp>
      <p:sp>
        <p:nvSpPr>
          <p:cNvPr id="4" name="TextBox 3"/>
          <p:cNvSpPr txBox="1"/>
          <p:nvPr/>
        </p:nvSpPr>
        <p:spPr>
          <a:xfrm>
            <a:off x="731520" y="777240"/>
            <a:ext cx="10698480" cy="731520"/>
          </a:xfrm>
          <a:prstGeom prst="rect">
            <a:avLst/>
          </a:prstGeom>
          <a:noFill/>
        </p:spPr>
        <p:txBody>
          <a:bodyPr wrap="square">
            <a:spAutoFit/>
          </a:bodyPr>
          <a:lstStyle/>
          <a:p>
            <a:pPr>
              <a:defRPr sz="2200" b="1">
                <a:solidFill>
                  <a:srgbClr val="F8FAFC"/>
                </a:solidFill>
              </a:defRPr>
            </a:pPr>
            <a:r>
              <a:t>Conclusion &amp; Key Learnings from Building the Mock</a:t>
            </a:r>
          </a:p>
          <a:p>
            <a:pPr>
              <a:defRPr sz="1100">
                <a:solidFill>
                  <a:srgbClr val="94A3B8"/>
                </a:solidFill>
              </a:defRPr>
            </a:pPr>
            <a:r>
              <a:t>Critical lessons discovered throughout the design and engineering process.</a:t>
            </a:r>
          </a:p>
        </p:txBody>
      </p:sp>
      <p:sp>
        <p:nvSpPr>
          <p:cNvPr id="5" name="Rounded Rectangle 4"/>
          <p:cNvSpPr/>
          <p:nvPr/>
        </p:nvSpPr>
        <p:spPr>
          <a:xfrm>
            <a:off x="731520" y="1737360"/>
            <a:ext cx="329184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34640" cy="4206240"/>
          </a:xfrm>
          <a:prstGeom prst="rect">
            <a:avLst/>
          </a:prstGeom>
          <a:noFill/>
        </p:spPr>
        <p:txBody>
          <a:bodyPr wrap="square">
            <a:spAutoFit/>
          </a:bodyPr>
          <a:lstStyle/>
          <a:p>
            <a:pPr>
              <a:defRPr sz="1400" b="1">
                <a:solidFill>
                  <a:srgbClr val="38BDF8"/>
                </a:solidFill>
              </a:defRPr>
            </a:pPr>
            <a:r>
              <a:t>[ENGINEERING]  1. Framework Independence</a:t>
            </a:r>
          </a:p>
          <a:p>
            <a:pPr>
              <a:spcBef>
                <a:spcPts val="500"/>
              </a:spcBef>
              <a:defRPr sz="1050">
                <a:solidFill>
                  <a:srgbClr val="94A3B8"/>
                </a:solidFill>
              </a:defRPr>
            </a:pPr>
            <a:r>
              <a:t>• Modern web standards are exceptionally capable: Native CSS variables and ES6 modules replicated multi-page SPA routing seamlessly.</a:t>
            </a:r>
          </a:p>
          <a:p>
            <a:pPr>
              <a:spcBef>
                <a:spcPts val="500"/>
              </a:spcBef>
              <a:defRPr sz="1050">
                <a:solidFill>
                  <a:srgbClr val="94A3B8"/>
                </a:solidFill>
              </a:defRPr>
            </a:pPr>
            <a:r>
              <a:t>• Eliminating npm packages removed build vulnerabilities, package rot, and compilation steps entirely.</a:t>
            </a:r>
          </a:p>
          <a:p>
            <a:pPr>
              <a:spcBef>
                <a:spcPts val="500"/>
              </a:spcBef>
              <a:defRPr sz="1050">
                <a:solidFill>
                  <a:srgbClr val="94A3B8"/>
                </a:solidFill>
              </a:defRPr>
            </a:pPr>
            <a:r>
              <a:t>• Sub-120ms global load times prove that lightweight vanilla code outperforms bloated frontend frameworks for landing and transaction platforms.</a:t>
            </a:r>
          </a:p>
        </p:txBody>
      </p:sp>
      <p:sp>
        <p:nvSpPr>
          <p:cNvPr id="7" name="Rounded Rectangle 6"/>
          <p:cNvSpPr/>
          <p:nvPr/>
        </p:nvSpPr>
        <p:spPr>
          <a:xfrm>
            <a:off x="4443984" y="1737360"/>
            <a:ext cx="329184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2584" y="1920240"/>
            <a:ext cx="2834640" cy="4206240"/>
          </a:xfrm>
          <a:prstGeom prst="rect">
            <a:avLst/>
          </a:prstGeom>
          <a:noFill/>
        </p:spPr>
        <p:txBody>
          <a:bodyPr wrap="square">
            <a:spAutoFit/>
          </a:bodyPr>
          <a:lstStyle/>
          <a:p>
            <a:pPr>
              <a:defRPr sz="1400" b="1">
                <a:solidFill>
                  <a:srgbClr val="34D399"/>
                </a:solidFill>
              </a:defRPr>
            </a:pPr>
            <a:r>
              <a:t>[PRODUCT STRATEGY]  2. Trust UX in FinTech</a:t>
            </a:r>
          </a:p>
          <a:p>
            <a:pPr>
              <a:spcBef>
                <a:spcPts val="500"/>
              </a:spcBef>
              <a:defRPr sz="1050">
                <a:solidFill>
                  <a:srgbClr val="94A3B8"/>
                </a:solidFill>
              </a:defRPr>
            </a:pPr>
            <a:r>
              <a:t>• In institutional M&amp;A, transparency builds far more trust than flashy animations.</a:t>
            </a:r>
          </a:p>
          <a:p>
            <a:pPr>
              <a:spcBef>
                <a:spcPts val="500"/>
              </a:spcBef>
              <a:defRPr sz="1050">
                <a:solidFill>
                  <a:srgbClr val="94A3B8"/>
                </a:solidFill>
              </a:defRPr>
            </a:pPr>
            <a:r>
              <a:t>• Institutional investors and founders prioritize clear financial multiples, verified data, and risk mitigation over neon gradients.</a:t>
            </a:r>
          </a:p>
          <a:p>
            <a:pPr>
              <a:spcBef>
                <a:spcPts val="500"/>
              </a:spcBef>
              <a:defRPr sz="1050">
                <a:solidFill>
                  <a:srgbClr val="94A3B8"/>
                </a:solidFill>
              </a:defRPr>
            </a:pPr>
            <a:r>
              <a:t>• Every UI decision must reinforce security, credibility, and verified accuracy.</a:t>
            </a:r>
          </a:p>
        </p:txBody>
      </p:sp>
      <p:sp>
        <p:nvSpPr>
          <p:cNvPr id="9" name="Rounded Rectangle 8"/>
          <p:cNvSpPr/>
          <p:nvPr/>
        </p:nvSpPr>
        <p:spPr>
          <a:xfrm>
            <a:off x="8165592" y="1737360"/>
            <a:ext cx="3291840" cy="4572000"/>
          </a:xfrm>
          <a:prstGeom prst="roundRect">
            <a:avLst/>
          </a:prstGeom>
          <a:solidFill>
            <a:srgbClr val="121826"/>
          </a:solidFill>
          <a:ln w="15240">
            <a:solidFill>
              <a:srgbClr val="26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94192" y="1920240"/>
            <a:ext cx="2834640" cy="4206240"/>
          </a:xfrm>
          <a:prstGeom prst="rect">
            <a:avLst/>
          </a:prstGeom>
          <a:noFill/>
        </p:spPr>
        <p:txBody>
          <a:bodyPr wrap="square">
            <a:spAutoFit/>
          </a:bodyPr>
          <a:lstStyle/>
          <a:p>
            <a:pPr>
              <a:defRPr sz="1400" b="1">
                <a:solidFill>
                  <a:srgbClr val="F59E0B"/>
                </a:solidFill>
              </a:defRPr>
            </a:pPr>
            <a:r>
              <a:t>[TRANSACTION VALUE]  3. Solving Deal Anxiety</a:t>
            </a:r>
          </a:p>
          <a:p>
            <a:pPr>
              <a:spcBef>
                <a:spcPts val="500"/>
              </a:spcBef>
              <a:defRPr sz="1050">
                <a:solidFill>
                  <a:srgbClr val="94A3B8"/>
                </a:solidFill>
              </a:defRPr>
            </a:pPr>
            <a:r>
              <a:t>• Anyone can build a directory that lists software for sale.</a:t>
            </a:r>
          </a:p>
          <a:p>
            <a:pPr>
              <a:spcBef>
                <a:spcPts val="500"/>
              </a:spcBef>
              <a:defRPr sz="1050">
                <a:solidFill>
                  <a:srgbClr val="94A3B8"/>
                </a:solidFill>
              </a:defRPr>
            </a:pPr>
            <a:r>
              <a:t>• The real commercial value in M&amp;A lies in solving the settlement risk: the fear of getting scammed during custody handoff.</a:t>
            </a:r>
          </a:p>
          <a:p>
            <a:pPr>
              <a:spcBef>
                <a:spcPts val="500"/>
              </a:spcBef>
              <a:defRPr sz="1050">
                <a:solidFill>
                  <a:srgbClr val="94A3B8"/>
                </a:solidFill>
              </a:defRPr>
            </a:pPr>
            <a:r>
              <a:t>• Engineering the Atomic Handover Protocol demonstrated that safety and escrow mechanics are the platform's primary competitive advantage.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